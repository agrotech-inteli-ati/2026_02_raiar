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ca928cf52bb4d56" /><Relationship Type="http://schemas.openxmlformats.org/officeDocument/2006/relationships/extended-properties" Target="/docProps/app.xml" Id="Ra69173d6c6c640b5" /><Relationship Type="http://schemas.openxmlformats.org/officeDocument/2006/relationships/officeDocument" Target="/ppt/presentation.xml" Id="R0c22feb5c83b4524" /></Relationships>
</file>

<file path=ppt/presentation.xml><?xml version="1.0" encoding="utf-8"?>
<p:presentation xmlns:p="http://schemas.openxmlformats.org/presentationml/2006/main">
  <p:sldMasterIdLst>
    <p:sldMasterId xmlns:r="http://schemas.openxmlformats.org/officeDocument/2006/relationships" id="2147483648" r:id="Ra8de8ffcbb33494d"/>
  </p:sldMasterIdLst>
  <p:notesMasterIdLst>
    <p:notesMasterId xmlns:r="http://schemas.openxmlformats.org/officeDocument/2006/relationships" r:id="Rf9156345764249f6"/>
  </p:notesMasterIdLst>
  <p:sldIdLst>
    <p:sldId xmlns:r="http://schemas.openxmlformats.org/officeDocument/2006/relationships" id="256" r:id="R88a907a808954a95"/>
    <p:sldId xmlns:r="http://schemas.openxmlformats.org/officeDocument/2006/relationships" id="257" r:id="R2b64f592ba0e4f2e"/>
    <p:sldId xmlns:r="http://schemas.openxmlformats.org/officeDocument/2006/relationships" id="258" r:id="R7777fbe7e9f24471"/>
    <p:sldId xmlns:r="http://schemas.openxmlformats.org/officeDocument/2006/relationships" id="259" r:id="R7f7b8324c0f44213"/>
    <p:sldId xmlns:r="http://schemas.openxmlformats.org/officeDocument/2006/relationships" id="260" r:id="R2decaac759324641"/>
    <p:sldId xmlns:r="http://schemas.openxmlformats.org/officeDocument/2006/relationships" id="261" r:id="Rd7db9866365f4e4f"/>
    <p:sldId xmlns:r="http://schemas.openxmlformats.org/officeDocument/2006/relationships" id="262" r:id="R75794076df2b4f18"/>
    <p:sldId xmlns:r="http://schemas.openxmlformats.org/officeDocument/2006/relationships" id="263" r:id="R92be0cf1f9f741c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9a3bda8b58b440e" /><Relationship Type="http://schemas.openxmlformats.org/officeDocument/2006/relationships/slideMaster" Target="/ppt/slideMasters/slideMaster1.xml" Id="Ra8de8ffcbb33494d" /><Relationship Type="http://schemas.openxmlformats.org/officeDocument/2006/relationships/notesMaster" Target="/ppt/notesMasters/notesMaster1.xml" Id="Rf9156345764249f6" /><Relationship Type="http://schemas.openxmlformats.org/officeDocument/2006/relationships/presProps" Target="/ppt/presProps.xml" Id="R0fed71468d2c4b79" /><Relationship Type="http://schemas.openxmlformats.org/officeDocument/2006/relationships/tableStyles" Target="/ppt/tableStyles.xml" Id="R1d8edf93e9b1443a" /><Relationship Type="http://schemas.openxmlformats.org/officeDocument/2006/relationships/slide" Target="/ppt/slides/slide1.xml" Id="R88a907a808954a95" /><Relationship Type="http://schemas.openxmlformats.org/officeDocument/2006/relationships/slide" Target="/ppt/slides/slide2.xml" Id="R2b64f592ba0e4f2e" /><Relationship Type="http://schemas.openxmlformats.org/officeDocument/2006/relationships/slide" Target="/ppt/slides/slide3.xml" Id="R7777fbe7e9f24471" /><Relationship Type="http://schemas.openxmlformats.org/officeDocument/2006/relationships/slide" Target="/ppt/slides/slide4.xml" Id="R7f7b8324c0f44213" /><Relationship Type="http://schemas.openxmlformats.org/officeDocument/2006/relationships/slide" Target="/ppt/slides/slide5.xml" Id="R2decaac759324641" /><Relationship Type="http://schemas.openxmlformats.org/officeDocument/2006/relationships/slide" Target="/ppt/slides/slide6.xml" Id="Rd7db9866365f4e4f" /><Relationship Type="http://schemas.openxmlformats.org/officeDocument/2006/relationships/slide" Target="/ppt/slides/slide7.xml" Id="R75794076df2b4f18" /><Relationship Type="http://schemas.openxmlformats.org/officeDocument/2006/relationships/slide" Target="/ppt/slides/slide8.xml" Id="R92be0cf1f9f741c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0d446220c4043e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d0940df08e4e2c" /><Relationship Type="http://schemas.openxmlformats.org/officeDocument/2006/relationships/notesMaster" Target="/ppt/notesMasters/notesMaster1.xml" Id="R9aa38d6d548046a6" /></Relationships>
</file>

<file path=ppt/notesSlides/_rels/notesSlide2.xml.rels>&#65279;<?xml version="1.0" encoding="utf-8"?><Relationships xmlns="http://schemas.openxmlformats.org/package/2006/relationships"><Relationship Type="http://schemas.openxmlformats.org/officeDocument/2006/relationships/slide" Target="/ppt/slides/slide2.xml" Id="Ra9eae4ed189f4c2f" /><Relationship Type="http://schemas.openxmlformats.org/officeDocument/2006/relationships/notesMaster" Target="/ppt/notesMasters/notesMaster1.xml" Id="Rdd0a71bc7c594c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349c5ce531754d9b" /><Relationship Type="http://schemas.openxmlformats.org/officeDocument/2006/relationships/notesMaster" Target="/ppt/notesMasters/notesMaster1.xml" Id="R2a7cc43cdebe46f4" /></Relationships>
</file>

<file path=ppt/notesSlides/_rels/notesSlide4.xml.rels>&#65279;<?xml version="1.0" encoding="utf-8"?><Relationships xmlns="http://schemas.openxmlformats.org/package/2006/relationships"><Relationship Type="http://schemas.openxmlformats.org/officeDocument/2006/relationships/slide" Target="/ppt/slides/slide4.xml" Id="Re856eea2e2da4ebc" /><Relationship Type="http://schemas.openxmlformats.org/officeDocument/2006/relationships/notesMaster" Target="/ppt/notesMasters/notesMaster1.xml" Id="Rd306b17df28a4e61" /></Relationships>
</file>

<file path=ppt/notesSlides/_rels/notesSlide5.xml.rels>&#65279;<?xml version="1.0" encoding="utf-8"?><Relationships xmlns="http://schemas.openxmlformats.org/package/2006/relationships"><Relationship Type="http://schemas.openxmlformats.org/officeDocument/2006/relationships/slide" Target="/ppt/slides/slide5.xml" Id="R02333720adba447e" /><Relationship Type="http://schemas.openxmlformats.org/officeDocument/2006/relationships/notesMaster" Target="/ppt/notesMasters/notesMaster1.xml" Id="Rbaccd2d3e1af4240" /></Relationships>
</file>

<file path=ppt/notesSlides/_rels/notesSlide6.xml.rels>&#65279;<?xml version="1.0" encoding="utf-8"?><Relationships xmlns="http://schemas.openxmlformats.org/package/2006/relationships"><Relationship Type="http://schemas.openxmlformats.org/officeDocument/2006/relationships/slide" Target="/ppt/slides/slide6.xml" Id="R95d67b988d8945d4" /><Relationship Type="http://schemas.openxmlformats.org/officeDocument/2006/relationships/notesMaster" Target="/ppt/notesMasters/notesMaster1.xml" Id="R35dc705d4c8b4716"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ac782d44744b9d" /><Relationship Type="http://schemas.openxmlformats.org/officeDocument/2006/relationships/notesMaster" Target="/ppt/notesMasters/notesMaster1.xml" Id="R002309d3174f4894" /></Relationships>
</file>

<file path=ppt/notesSlides/_rels/notesSlide8.xml.rels>&#65279;<?xml version="1.0" encoding="utf-8"?><Relationships xmlns="http://schemas.openxmlformats.org/package/2006/relationships"><Relationship Type="http://schemas.openxmlformats.org/officeDocument/2006/relationships/slide" Target="/ppt/slides/slide8.xml" Id="R02f521144fc14217" /><Relationship Type="http://schemas.openxmlformats.org/officeDocument/2006/relationships/notesMaster" Target="/ppt/notesMasters/notesMaster1.xml" Id="R8893909eb04147b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Apresentação sobre referências europeias e oportunidades para acompanhar poedeiras jovens antes da postura. A imagem mostra o sistema do fabricante, não uma instalação da Raiar. Foto: Vencomatic Group, Jump-Start-wk1.jpg.</a:t>
            </a:r>
          </a:p>
          <a:p xmlns:a="http://schemas.openxmlformats.org/drawingml/2006/main">
            <a:r>
              <a:t/>
            </a:r>
          </a:p>
          <a:p xmlns:a="http://schemas.openxmlformats.org/drawingml/2006/main">
            <a:r>
              <a:t>Fonte-base: comparacao_galinhas_poedeiras_brasil_europa_raiar.md, pesquisa revisada em 24/09/2026.</a:t>
            </a:r>
          </a:p>
          <a:p xmlns:a="http://schemas.openxmlformats.org/drawingml/2006/main">
            <a:r>
              <a:t>https://www.vencomaticgroup.com/nl/leghennen/jump-start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perfil público da empresa informa o uso do Jump Start e a certificação Certified Humane. As semanas 1 a 15 são o recorte do projeto: semanas 1 a 6 de cria e 7 a 15 de recria. Ausência de indicadores públicos não prova ausência de monitoramento interno. Foto do fabricante, sem atribuição à granja Raiar.</a:t>
            </a:r>
          </a:p>
          <a:p xmlns:a="http://schemas.openxmlformats.org/drawingml/2006/main">
            <a:r>
              <a:t/>
            </a:r>
          </a:p>
          <a:p xmlns:a="http://schemas.openxmlformats.org/drawingml/2006/main">
            <a:r>
              <a:t>Fonte-base: comparacao_galinhas_poedeiras_brasil_europa_raiar.md, pesquisa revisada em 24/09/2026.</a:t>
            </a:r>
          </a:p>
          <a:p xmlns:a="http://schemas.openxmlformats.org/drawingml/2006/main">
            <a:r>
              <a:t>https://certifiedhumanebrasil.org/empresas-certificadas/raiar-organicos-s-a/</a:t>
            </a:r>
          </a:p>
          <a:p xmlns:a="http://schemas.openxmlformats.org/drawingml/2006/main">
            <a:r>
              <a:t>https://certifiedhumanebrasil.org/criacao-de-galinhas-poedeiras-conheca-as-exigencias-para-recria-e-manejo-das-aves/</a:t>
            </a:r>
          </a:p>
          <a:p xmlns:a="http://schemas.openxmlformats.org/drawingml/2006/main">
            <a:r>
              <a:t>https://www.gov.br/agricultura/pt-br/assuntos/producao-animal/boas-praticas-de-producao-animal/aves</a:t>
            </a:r>
          </a:p>
          <a:p xmlns:a="http://schemas.openxmlformats.org/drawingml/2006/main">
            <a:r>
              <a:t>https://www.vencomaticgroup.com/nl/leghennen/jump-start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Síntese qualitativa das referências citadas no documento. MAPA apresenta orientação técnica, Certified Humane é um padrão de certificação e os requisitos orgânicos da UE são regulatórios. Regras para poedeiras adultas não se aplicam automaticamente às aves jovens. As referências europeias não descrevem todas as granjas europeias nem provam superioridade de desempenho.</a:t>
            </a:r>
          </a:p>
          <a:p xmlns:a="http://schemas.openxmlformats.org/drawingml/2006/main">
            <a:r>
              <a:t/>
            </a:r>
          </a:p>
          <a:p xmlns:a="http://schemas.openxmlformats.org/drawingml/2006/main">
            <a:r>
              <a:t>Fonte-base: comparacao_galinhas_poedeiras_brasil_europa_raiar.md, pesquisa revisada em 24/09/2026.</a:t>
            </a:r>
          </a:p>
          <a:p xmlns:a="http://schemas.openxmlformats.org/drawingml/2006/main">
            <a:r>
              <a:t>https://www.gov.br/agricultura/pt-br/assuntos/producao-animal/boas-praticas-de-producao-animal/aves</a:t>
            </a:r>
          </a:p>
          <a:p xmlns:a="http://schemas.openxmlformats.org/drawingml/2006/main">
            <a:r>
              <a:t>https://certifiedhumanebrasil.org/criacao-de-galinhas-poedeiras-conheca-as-exigencias-para-recria-e-manejo-das-aves/</a:t>
            </a:r>
          </a:p>
          <a:p xmlns:a="http://schemas.openxmlformats.org/drawingml/2006/main">
            <a:r>
              <a:t>https://eur-lex.europa.eu/eli/reg_impl/2020/464/oj</a:t>
            </a:r>
          </a:p>
          <a:p xmlns:a="http://schemas.openxmlformats.org/drawingml/2006/main">
            <a:r>
              <a:t>https://www.efsa.europa.eu/en/plain-language-summary/welfare-laying-hens</a:t>
            </a:r>
          </a:p>
          <a:p xmlns:a="http://schemas.openxmlformats.org/drawingml/2006/main">
            <a:r>
              <a:t>https://certifiedhumanebrasil.org/empresas-certificadas/raiar-organicos-s-a/</a:t>
            </a:r>
          </a:p>
          <a:p xmlns:a="http://schemas.openxmlformats.org/drawingml/2006/main">
            <a:r>
              <a:t>https://www.vencomaticgroup.com/nl/leghennen/jump-start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Gunnarsson, Keeling e Svedberg (1999): estudo observacional de 59 lotes comerciais suecos, com mais de 120 mil aves, encontrou associação entre acesso precoce a poleiros e menor prevalência posterior de ovos no piso. Skånberg e colaboradores (2024): mais opções de cama e poleiros favoreceram exploração do novo aviário, mas não houve diferença geral na porcentagem de ovos no piso entre tratamentos. Não inferir causalidade nem prometer o mesmo resultado na Raiar.</a:t>
            </a:r>
          </a:p>
          <a:p xmlns:a="http://schemas.openxmlformats.org/drawingml/2006/main">
            <a:r>
              <a:t/>
            </a:r>
          </a:p>
          <a:p xmlns:a="http://schemas.openxmlformats.org/drawingml/2006/main">
            <a:r>
              <a:t>Fonte-base: comparacao_galinhas_poedeiras_brasil_europa_raiar.md, pesquisa revisada em 24/09/2026.</a:t>
            </a:r>
          </a:p>
          <a:p xmlns:a="http://schemas.openxmlformats.org/drawingml/2006/main">
            <a:r>
              <a:t>https://pubmed.ncbi.nlm.nih.gov/10405030/</a:t>
            </a:r>
          </a:p>
          <a:p xmlns:a="http://schemas.openxmlformats.org/drawingml/2006/main">
            <a:r>
              <a:t>https://www.frontiersin.org/journals/veterinary-science/articles/10.3389/fvets.2024.1425851/full</a:t>
            </a:r>
          </a:p>
          <a:p xmlns:a="http://schemas.openxmlformats.org/drawingml/2006/main">
            <a:r>
              <a:t>https://www.efsa.europa.eu/en/plain-language-summary/welfare-laying-hens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hipótese de evolução é conectar o treino já existente no Jump Start a dados contínuos por idade, lote e zona. A disponibilidade de monitoramento interno da Raiar precisa ser confirmada. Tecnologias como FlockVision e pesquisas de fluxo óptico citadas no documento tratam de frangos de corte, portanto não validam automaticamente o uso em poedeiras jovens.</a:t>
            </a:r>
          </a:p>
          <a:p xmlns:a="http://schemas.openxmlformats.org/drawingml/2006/main">
            <a:r>
              <a:t/>
            </a:r>
          </a:p>
          <a:p xmlns:a="http://schemas.openxmlformats.org/drawingml/2006/main">
            <a:r>
              <a:t>Fonte-base: comparacao_galinhas_poedeiras_brasil_europa_raiar.md, pesquisa revisada em 24/09/2026.</a:t>
            </a:r>
          </a:p>
          <a:p xmlns:a="http://schemas.openxmlformats.org/drawingml/2006/main">
            <a:r>
              <a:t>https://certifiedhumanebrasil.org/empresas-certificadas/raiar-organicos-s-a/</a:t>
            </a:r>
          </a:p>
          <a:p xmlns:a="http://schemas.openxmlformats.org/drawingml/2006/main">
            <a:r>
              <a:t>https://www.vencomaticgroup.com/nl/leghennen/jump-start</a:t>
            </a:r>
          </a:p>
          <a:p xmlns:a="http://schemas.openxmlformats.org/drawingml/2006/main">
            <a:r>
              <a:t>https://gdanimalhealth.com/ethometer</a:t>
            </a:r>
          </a:p>
          <a:p xmlns:a="http://schemas.openxmlformats.org/drawingml/2006/main">
            <a:r>
              <a:t>https://www.sciencedirect.com/science/article/pii/S0168159120302689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Proposta de adaptação do escopo original. Nas semanas 1 a 15, o módulo de comportamento é o componente mais diretamente reutilizável. Fluxo óptico mede movimento coletivo, mas ocupação de plataformas e distribuição por níveis dependem de análise adicional de visão. A detecção de ovos funciona depois da transferência, na postura. O MVP inicial prevê teste em ambiente simulado. O índice isolado não diagnostica doença nem estresse. Fonte: seções Como a solução se conecta às semanas 1 a 15 e Caminho de validação da solução do documento-base.</a:t>
            </a:r>
          </a:p>
          <a:p xmlns:a="http://schemas.openxmlformats.org/drawingml/2006/main">
            <a:r>
              <a:t/>
            </a:r>
          </a:p>
          <a:p xmlns:a="http://schemas.openxmlformats.org/drawingml/2006/main">
            <a:r>
              <a:t>Fonte-base: comparacao_galinhas_poedeiras_brasil_europa_raiar.md, pesquisa revisada em 24/09/2026.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Indicadores propostos, ainda sujeitos a validação veterinária e zootécnica. Semanas 1 a 3: confrontar imagens com rondas, mortalidade, consumo e temperatura. Semanas 4 a 6: anotações manuais de uso dos recursos e inspeções físicas. Semanas 7 a 10: peso, uniformidade, plumagem e acesso aos recursos. Semanas 11 a 15: prontidão para transferência e histórico sanitário. Ocupação dos níveis não é uma saída pronta do Unrest Index. Fonte: Proposta de indicadores para um piloto, documento-base.</a:t>
            </a:r>
          </a:p>
          <a:p xmlns:a="http://schemas.openxmlformats.org/drawingml/2006/main">
            <a:r>
              <a:t/>
            </a:r>
          </a:p>
          <a:p xmlns:a="http://schemas.openxmlformats.org/drawingml/2006/main">
            <a:r>
              <a:t>Fonte-base: comparacao_galinhas_poedeiras_brasil_europa_raiar.md, pesquisa revisada em 24/09/2026.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Etapas propostas a partir das seções Caminho de validação da solução e Decisões que dependem de informações da Raiar. Confirmar câmeras, vídeos disponíveis, cronograma de manejo e possibilidade de vincular lotes à postura. Definir critérios de sucesso e avaliar cobertura, falsos alarmes e perdas de detecção. O MVP inicial é simulado. Um piloto em granja requer ampliação de escopo, acesso e equipamentos.</a:t>
            </a:r>
          </a:p>
          <a:p xmlns:a="http://schemas.openxmlformats.org/drawingml/2006/main">
            <a:r>
              <a:t/>
            </a:r>
          </a:p>
          <a:p xmlns:a="http://schemas.openxmlformats.org/drawingml/2006/main">
            <a:r>
              <a:t>Fonte-base: comparacao_galinhas_poedeiras_brasil_europa_raiar.md, pesquisa revisada em 24/09/2026.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b53bbf1a3c7442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e37cb31e61b45f6" /><Relationship Type="http://schemas.openxmlformats.org/officeDocument/2006/relationships/slideLayout" Target="/ppt/slideLayouts/slideLayout1.xml" Id="R687636075b61459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87636075b61459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f7f7e34312249a3" /><Relationship Type="http://schemas.openxmlformats.org/officeDocument/2006/relationships/image" Target="/ppt/media/image.jpeg" Id="R59b649ce906b4c7a" /><Relationship Type="http://schemas.openxmlformats.org/officeDocument/2006/relationships/notesSlide" Target="/ppt/notesSlides/notesSlide1.xml" Id="Rd21acc5f8ba648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356869fb96948b1" /><Relationship Type="http://schemas.openxmlformats.org/officeDocument/2006/relationships/image" Target="/ppt/media/image2.jpeg" Id="R89dfdca58726477a" /><Relationship Type="http://schemas.openxmlformats.org/officeDocument/2006/relationships/notesSlide" Target="/ppt/notesSlides/notesSlide2.xml" Id="R3a5daef623724e5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40bc0d9bf4743ff" /><Relationship Type="http://schemas.openxmlformats.org/officeDocument/2006/relationships/notesSlide" Target="/ppt/notesSlides/notesSlide3.xml" Id="Rb4de9dc5b21e4ba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3a089ca35d245d2" /><Relationship Type="http://schemas.openxmlformats.org/officeDocument/2006/relationships/notesSlide" Target="/ppt/notesSlides/notesSlide4.xml" Id="R57ce2ce768674a7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681972eb68548ce" /><Relationship Type="http://schemas.openxmlformats.org/officeDocument/2006/relationships/notesSlide" Target="/ppt/notesSlides/notesSlide5.xml" Id="R978b14baf2bb430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67860ee7dd649ac" /><Relationship Type="http://schemas.openxmlformats.org/officeDocument/2006/relationships/notesSlide" Target="/ppt/notesSlides/notesSlide6.xml" Id="R6334af676a54400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7b685a6137e4fa0" /><Relationship Type="http://schemas.openxmlformats.org/officeDocument/2006/relationships/notesSlide" Target="/ppt/notesSlides/notesSlide7.xml" Id="Ra1463394a3264ef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bc98f24383d4f38" /><Relationship Type="http://schemas.openxmlformats.org/officeDocument/2006/relationships/notesSlide" Target="/ppt/notesSlides/notesSlide8.xml" Id="R13ca0fe4f37f44b5" /></Relationships>
</file>

<file path=ppt/slides/slide1.xml><?xml version="1.0" encoding="utf-8"?>
<p:sld xmlns:p="http://schemas.openxmlformats.org/presentationml/2006/main">
  <p:cSld>
    <p:bg>
      <p:bgPr>
        <a:solidFill xmlns:a="http://schemas.openxmlformats.org/drawingml/2006/main">
          <a:srgbClr val="173D3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23F72B1-1911-4F44-ADD9-B1EB53A1EDDE}"/>
              </a:ext>
            </a:extLst>
          </p:cNvPr>
          <p:cNvSpPr>
            <a:spLocks xmlns:a="http://schemas.openxmlformats.org/drawingml/2006/main" noGrp="1"/>
          </p:cNvSpPr>
          <p:nvPr/>
        </p:nvSpPr>
        <p:spPr>
          <a:xfrm xmlns:a="http://schemas.openxmlformats.org/drawingml/2006/main">
            <a:off x="647700" y="1457325"/>
            <a:ext cx="6191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025" b="0">
                <a:solidFill>
                  <a:srgbClr val="FFFDF7"/>
                </a:solidFill>
                <a:latin typeface="Arial"/>
                <a:ea typeface="Arial"/>
                <a:cs typeface="Arial"/>
              </a:defRPr>
            </a:pPr>
            <a:r>
              <a:rPr sz="5025" b="0">
                <a:solidFill>
                  <a:srgbClr val="FFFDF7"/>
                </a:solidFill>
                <a:latin typeface="Arial"/>
                <a:ea typeface="Arial"/>
                <a:cs typeface="Arial"/>
              </a:rPr>
              <a:t>Raiar e Europa</a:t>
            </a:r>
          </a:p>
        </p:txBody>
      </p:sp>
      <p:sp>
        <p:nvSpPr>
          <p:cNvPr id="2" name="">
            <a:extLst xmlns:a="http://schemas.openxmlformats.org/drawingml/2006/main">
              <a:ext uri="{FF2B5EF4-FFF2-40B4-BE49-F238E27FC236}">
                <a16:creationId xmlns:a16="http://schemas.microsoft.com/office/drawing/2014/main" id="{001205D0-4A63-4165-AB8D-B032379A26B4}"/>
              </a:ext>
            </a:extLst>
          </p:cNvPr>
          <p:cNvSpPr>
            <a:spLocks xmlns:a="http://schemas.openxmlformats.org/drawingml/2006/main" noGrp="1"/>
          </p:cNvSpPr>
          <p:nvPr/>
        </p:nvSpPr>
        <p:spPr>
          <a:xfrm xmlns:a="http://schemas.openxmlformats.org/drawingml/2006/main">
            <a:off x="647700" y="257175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0">
                <a:solidFill>
                  <a:srgbClr val="FFFDF7"/>
                </a:solidFill>
                <a:latin typeface="Arial"/>
                <a:ea typeface="Arial"/>
                <a:cs typeface="Arial"/>
              </a:defRPr>
            </a:pPr>
            <a:r>
              <a:rPr sz="2925" b="0">
                <a:solidFill>
                  <a:srgbClr val="FFFDF7"/>
                </a:solidFill>
                <a:latin typeface="Arial"/>
                <a:ea typeface="Arial"/>
                <a:cs typeface="Arial"/>
              </a:rPr>
              <a:t>Bem-estar e monitoramento</a:t>
            </a:r>
          </a:p>
          <a:p xmlns:a="http://schemas.openxmlformats.org/drawingml/2006/main">
            <a:pPr>
              <a:defRPr sz="2925" b="0">
                <a:solidFill>
                  <a:srgbClr val="FFFDF7"/>
                </a:solidFill>
                <a:latin typeface="Arial"/>
                <a:ea typeface="Arial"/>
                <a:cs typeface="Arial"/>
              </a:defRPr>
            </a:pPr>
            <a:r>
              <a:rPr sz="2925" b="0">
                <a:solidFill>
                  <a:srgbClr val="FFFDF7"/>
                </a:solidFill>
                <a:latin typeface="Arial"/>
                <a:ea typeface="Arial"/>
                <a:cs typeface="Arial"/>
              </a:rPr>
              <a:t>de poedeiras</a:t>
            </a:r>
          </a:p>
        </p:txBody>
      </p:sp>
      <p:sp>
        <p:nvSpPr>
          <p:cNvPr id="3" name="">
            <a:extLst xmlns:a="http://schemas.openxmlformats.org/drawingml/2006/main">
              <a:ext uri="{FF2B5EF4-FFF2-40B4-BE49-F238E27FC236}">
                <a16:creationId xmlns:a16="http://schemas.microsoft.com/office/drawing/2014/main" id="{D8B5097B-432C-4005-9A63-E4D2F47C2AE1}"/>
              </a:ext>
            </a:extLst>
          </p:cNvPr>
          <p:cNvSpPr>
            <a:spLocks xmlns:a="http://schemas.openxmlformats.org/drawingml/2006/main" noGrp="1"/>
          </p:cNvSpPr>
          <p:nvPr/>
        </p:nvSpPr>
        <p:spPr>
          <a:xfrm xmlns:a="http://schemas.openxmlformats.org/drawingml/2006/main">
            <a:off x="647700" y="5095875"/>
            <a:ext cx="5953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D7E3D4"/>
                </a:solidFill>
                <a:latin typeface="Arial"/>
                <a:ea typeface="Arial"/>
                <a:cs typeface="Arial"/>
              </a:defRPr>
            </a:pPr>
            <a:r>
              <a:rPr sz="1875" b="0">
                <a:solidFill>
                  <a:srgbClr val="D7E3D4"/>
                </a:solidFill>
                <a:latin typeface="Arial"/>
                <a:ea typeface="Arial"/>
                <a:cs typeface="Arial"/>
              </a:rPr>
              <a:t>Semanas 1 a 15</a:t>
            </a:r>
          </a:p>
          <a:p xmlns:a="http://schemas.openxmlformats.org/drawingml/2006/main">
            <a:pPr>
              <a:defRPr sz="1875" b="0">
                <a:solidFill>
                  <a:srgbClr val="D7E3D4"/>
                </a:solidFill>
                <a:latin typeface="Arial"/>
                <a:ea typeface="Arial"/>
                <a:cs typeface="Arial"/>
              </a:defRPr>
            </a:pPr>
            <a:r>
              <a:rPr sz="1875" b="0">
                <a:solidFill>
                  <a:srgbClr val="D7E3D4"/>
                </a:solidFill>
                <a:latin typeface="Arial"/>
                <a:ea typeface="Arial"/>
                <a:cs typeface="Arial"/>
              </a:rPr>
              <a:t>Oportunidades para a AgroTech Inteli</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9b649ce906b4c7a"/>
          <a:srcRect xmlns:a="http://schemas.openxmlformats.org/drawingml/2006/main" l="12154" t="0" r="12154" b="0"/>
          <a:stretch xmlns:a="http://schemas.openxmlformats.org/drawingml/2006/main">
            <a:fillRect l="0" t="0" r="0" b="0"/>
          </a:stretch>
        </p:blipFill>
        <p:spPr>
          <a:xfrm xmlns:a="http://schemas.openxmlformats.org/drawingml/2006/main">
            <a:off x="7429500" y="647700"/>
            <a:ext cx="4114800" cy="5105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5692475-25C1-4CB8-9282-F4E9D06B9348}"/>
              </a:ext>
            </a:extLst>
          </p:cNvPr>
          <p:cNvSpPr>
            <a:spLocks xmlns:a="http://schemas.openxmlformats.org/drawingml/2006/main" noGrp="1"/>
          </p:cNvSpPr>
          <p:nvPr/>
        </p:nvSpPr>
        <p:spPr>
          <a:xfrm xmlns:a="http://schemas.openxmlformats.org/drawingml/2006/main">
            <a:off x="7429500" y="5905500"/>
            <a:ext cx="411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D7E3D4"/>
                </a:solidFill>
                <a:latin typeface="Arial"/>
                <a:ea typeface="Arial"/>
                <a:cs typeface="Arial"/>
              </a:defRPr>
            </a:pPr>
            <a:r>
              <a:rPr sz="1200" b="0">
                <a:solidFill>
                  <a:srgbClr val="D7E3D4"/>
                </a:solidFill>
                <a:latin typeface="Arial"/>
                <a:ea typeface="Arial"/>
                <a:cs typeface="Arial"/>
              </a:rPr>
              <a:t>Sistema Jump Start. Foto do fabricante.</a:t>
            </a:r>
          </a:p>
        </p:txBody>
      </p:sp>
    </p:spTree>
    <p:extLst>
      <p:ext uri="{BB962C8B-B14F-4D97-AF65-F5344CB8AC3E}">
        <p14:creationId xmlns:p14="http://schemas.microsoft.com/office/powerpoint/2010/main" val="1516071289"/>
      </p:ext>
    </p:extLst>
  </p:cSld>
</p:sld>
</file>

<file path=ppt/slides/slide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472708D-93F1-4B19-8512-BC0466A349AF}"/>
              </a:ext>
            </a:extLst>
          </p:cNvPr>
          <p:cNvSpPr>
            <a:spLocks xmlns:a="http://schemas.openxmlformats.org/drawingml/2006/main" noGrp="1"/>
          </p:cNvSpPr>
          <p:nvPr/>
        </p:nvSpPr>
        <p:spPr>
          <a:xfrm xmlns:a="http://schemas.openxmlformats.org/drawingml/2006/main">
            <a:off x="647700" y="514350"/>
            <a:ext cx="10763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0">
                <a:solidFill>
                  <a:srgbClr val="173D32"/>
                </a:solidFill>
                <a:latin typeface="Arial"/>
                <a:ea typeface="Arial"/>
                <a:cs typeface="Arial"/>
              </a:defRPr>
            </a:pPr>
            <a:r>
              <a:rPr sz="3450" b="0">
                <a:solidFill>
                  <a:srgbClr val="173D32"/>
                </a:solidFill>
                <a:latin typeface="Arial"/>
                <a:ea typeface="Arial"/>
                <a:cs typeface="Arial"/>
              </a:rPr>
              <a:t>O ponto de partida da Raiar</a:t>
            </a:r>
          </a:p>
        </p:txBody>
      </p:sp>
      <p:sp>
        <p:nvSpPr>
          <p:cNvPr id="2" name="">
            <a:extLst xmlns:a="http://schemas.openxmlformats.org/drawingml/2006/main">
              <a:ext uri="{FF2B5EF4-FFF2-40B4-BE49-F238E27FC236}">
                <a16:creationId xmlns:a16="http://schemas.microsoft.com/office/drawing/2014/main" id="{CFF076D3-F13E-4DE8-881C-36ACBABAEACB}"/>
              </a:ext>
            </a:extLst>
          </p:cNvPr>
          <p:cNvSpPr>
            <a:spLocks xmlns:a="http://schemas.openxmlformats.org/drawingml/2006/main" noGrp="1"/>
          </p:cNvSpPr>
          <p:nvPr/>
        </p:nvSpPr>
        <p:spPr>
          <a:xfrm xmlns:a="http://schemas.openxmlformats.org/drawingml/2006/main">
            <a:off x="110490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4655B"/>
                </a:solidFill>
                <a:latin typeface="Arial"/>
                <a:ea typeface="Arial"/>
                <a:cs typeface="Arial"/>
              </a:defRPr>
            </a:pPr>
            <a:r>
              <a:rPr sz="1350" b="0">
                <a:solidFill>
                  <a:srgbClr val="54655B"/>
                </a:solidFill>
                <a:latin typeface="Arial"/>
                <a:ea typeface="Arial"/>
                <a:cs typeface="Arial"/>
              </a:rPr>
              <a:t>2</a:t>
            </a:r>
          </a:p>
        </p:txBody>
      </p:sp>
      <p:sp>
        <p:nvSpPr>
          <p:cNvPr id="3" name="">
            <a:extLst xmlns:a="http://schemas.openxmlformats.org/drawingml/2006/main">
              <a:ext uri="{FF2B5EF4-FFF2-40B4-BE49-F238E27FC236}">
                <a16:creationId xmlns:a16="http://schemas.microsoft.com/office/drawing/2014/main" id="{3E1B76F1-E480-4760-8579-935A40FF59C4}"/>
              </a:ext>
            </a:extLst>
          </p:cNvPr>
          <p:cNvSpPr>
            <a:spLocks xmlns:a="http://schemas.openxmlformats.org/drawingml/2006/main" noGrp="1"/>
          </p:cNvSpPr>
          <p:nvPr/>
        </p:nvSpPr>
        <p:spPr>
          <a:xfrm xmlns:a="http://schemas.openxmlformats.org/drawingml/2006/main">
            <a:off x="647700" y="1952625"/>
            <a:ext cx="5095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B25935"/>
                </a:solidFill>
                <a:latin typeface="Arial"/>
                <a:ea typeface="Arial"/>
                <a:cs typeface="Arial"/>
              </a:defRPr>
            </a:pPr>
            <a:r>
              <a:rPr sz="2400" b="0">
                <a:solidFill>
                  <a:srgbClr val="B25935"/>
                </a:solidFill>
                <a:latin typeface="Arial"/>
                <a:ea typeface="Arial"/>
                <a:cs typeface="Arial"/>
              </a:rPr>
              <a:t>Jump Start</a:t>
            </a:r>
          </a:p>
        </p:txBody>
      </p:sp>
      <p:sp>
        <p:nvSpPr>
          <p:cNvPr id="4" name="">
            <a:extLst xmlns:a="http://schemas.openxmlformats.org/drawingml/2006/main">
              <a:ext uri="{FF2B5EF4-FFF2-40B4-BE49-F238E27FC236}">
                <a16:creationId xmlns:a16="http://schemas.microsoft.com/office/drawing/2014/main" id="{46AE1B32-83A4-460D-8309-2DA2D3DBC85E}"/>
              </a:ext>
            </a:extLst>
          </p:cNvPr>
          <p:cNvSpPr>
            <a:spLocks xmlns:a="http://schemas.openxmlformats.org/drawingml/2006/main" noGrp="1"/>
          </p:cNvSpPr>
          <p:nvPr/>
        </p:nvSpPr>
        <p:spPr>
          <a:xfrm xmlns:a="http://schemas.openxmlformats.org/drawingml/2006/main">
            <a:off x="647700" y="2457450"/>
            <a:ext cx="50958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3D32"/>
                </a:solidFill>
                <a:latin typeface="Arial"/>
                <a:ea typeface="Arial"/>
                <a:cs typeface="Arial"/>
              </a:defRPr>
            </a:pPr>
            <a:r>
              <a:rPr sz="2100" b="0">
                <a:solidFill>
                  <a:srgbClr val="173D32"/>
                </a:solidFill>
                <a:latin typeface="Arial"/>
                <a:ea typeface="Arial"/>
                <a:cs typeface="Arial"/>
              </a:rPr>
              <a:t>Plataformas ajustáveis que treinam o acesso a diferentes níveis desde cedo.</a:t>
            </a:r>
          </a:p>
        </p:txBody>
      </p:sp>
      <p:sp>
        <p:nvSpPr>
          <p:cNvPr id="5" name="">
            <a:extLst xmlns:a="http://schemas.openxmlformats.org/drawingml/2006/main">
              <a:ext uri="{FF2B5EF4-FFF2-40B4-BE49-F238E27FC236}">
                <a16:creationId xmlns:a16="http://schemas.microsoft.com/office/drawing/2014/main" id="{CD2BA30B-2574-49A6-8273-1B2D76723910}"/>
              </a:ext>
            </a:extLst>
          </p:cNvPr>
          <p:cNvSpPr>
            <a:spLocks xmlns:a="http://schemas.openxmlformats.org/drawingml/2006/main" noGrp="1"/>
          </p:cNvSpPr>
          <p:nvPr/>
        </p:nvSpPr>
        <p:spPr>
          <a:xfrm xmlns:a="http://schemas.openxmlformats.org/drawingml/2006/main">
            <a:off x="647700" y="3829050"/>
            <a:ext cx="5095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B25935"/>
                </a:solidFill>
                <a:latin typeface="Arial"/>
                <a:ea typeface="Arial"/>
                <a:cs typeface="Arial"/>
              </a:defRPr>
            </a:pPr>
            <a:r>
              <a:rPr sz="2400" b="0">
                <a:solidFill>
                  <a:srgbClr val="B25935"/>
                </a:solidFill>
                <a:latin typeface="Arial"/>
                <a:ea typeface="Arial"/>
                <a:cs typeface="Arial"/>
              </a:rPr>
              <a:t>Certified Humane</a:t>
            </a:r>
          </a:p>
        </p:txBody>
      </p:sp>
      <p:sp>
        <p:nvSpPr>
          <p:cNvPr id="6" name="">
            <a:extLst xmlns:a="http://schemas.openxmlformats.org/drawingml/2006/main">
              <a:ext uri="{FF2B5EF4-FFF2-40B4-BE49-F238E27FC236}">
                <a16:creationId xmlns:a16="http://schemas.microsoft.com/office/drawing/2014/main" id="{ADB96EAE-D524-42D5-A8B9-F0A2D460DCCE}"/>
              </a:ext>
            </a:extLst>
          </p:cNvPr>
          <p:cNvSpPr>
            <a:spLocks xmlns:a="http://schemas.openxmlformats.org/drawingml/2006/main" noGrp="1"/>
          </p:cNvSpPr>
          <p:nvPr/>
        </p:nvSpPr>
        <p:spPr>
          <a:xfrm xmlns:a="http://schemas.openxmlformats.org/drawingml/2006/main">
            <a:off x="647700" y="4333875"/>
            <a:ext cx="50958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3D32"/>
                </a:solidFill>
                <a:latin typeface="Arial"/>
                <a:ea typeface="Arial"/>
                <a:cs typeface="Arial"/>
              </a:defRPr>
            </a:pPr>
            <a:r>
              <a:rPr sz="2100" b="0">
                <a:solidFill>
                  <a:srgbClr val="173D32"/>
                </a:solidFill>
                <a:latin typeface="Arial"/>
                <a:ea typeface="Arial"/>
                <a:cs typeface="Arial"/>
              </a:rPr>
              <a:t>A certificação oferece uma base de requisitos auditados de bem-estar.</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9dfdca58726477a"/>
          <a:srcRect xmlns:a="http://schemas.openxmlformats.org/drawingml/2006/main" l="0" t="14539" r="0" b="14539"/>
          <a:stretch xmlns:a="http://schemas.openxmlformats.org/drawingml/2006/main">
            <a:fillRect l="0" t="0" r="0" b="0"/>
          </a:stretch>
        </p:blipFill>
        <p:spPr>
          <a:xfrm xmlns:a="http://schemas.openxmlformats.org/drawingml/2006/main">
            <a:off x="6438900" y="1809750"/>
            <a:ext cx="5105400" cy="34004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C4F0200-CE7E-4A0B-A79B-B882FB8372F8}"/>
              </a:ext>
            </a:extLst>
          </p:cNvPr>
          <p:cNvSpPr>
            <a:spLocks xmlns:a="http://schemas.openxmlformats.org/drawingml/2006/main" noGrp="1"/>
          </p:cNvSpPr>
          <p:nvPr/>
        </p:nvSpPr>
        <p:spPr>
          <a:xfrm xmlns:a="http://schemas.openxmlformats.org/drawingml/2006/main">
            <a:off x="6438900" y="5324475"/>
            <a:ext cx="5105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4655B"/>
                </a:solidFill>
                <a:latin typeface="Arial"/>
                <a:ea typeface="Arial"/>
                <a:cs typeface="Arial"/>
              </a:defRPr>
            </a:pPr>
            <a:r>
              <a:rPr sz="1200" b="0">
                <a:solidFill>
                  <a:srgbClr val="54655B"/>
                </a:solidFill>
                <a:latin typeface="Arial"/>
                <a:ea typeface="Arial"/>
                <a:cs typeface="Arial"/>
              </a:rPr>
              <a:t>Exemplo do fabricante. Instalação não identificada como Raiar.</a:t>
            </a:r>
          </a:p>
        </p:txBody>
      </p:sp>
      <p:sp>
        <p:nvSpPr>
          <p:cNvPr id="9" name="">
            <a:extLst xmlns:a="http://schemas.openxmlformats.org/drawingml/2006/main">
              <a:ext uri="{FF2B5EF4-FFF2-40B4-BE49-F238E27FC236}">
                <a16:creationId xmlns:a16="http://schemas.microsoft.com/office/drawing/2014/main" id="{603DA64D-2145-4E05-8D01-D6B87FF463D7}"/>
              </a:ext>
            </a:extLst>
          </p:cNvPr>
          <p:cNvSpPr>
            <a:spLocks xmlns:a="http://schemas.openxmlformats.org/drawingml/2006/main" noGrp="1"/>
          </p:cNvSpPr>
          <p:nvPr/>
        </p:nvSpPr>
        <p:spPr>
          <a:xfrm xmlns:a="http://schemas.openxmlformats.org/drawingml/2006/main">
            <a:off x="647700" y="5943600"/>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4655B"/>
                </a:solidFill>
                <a:latin typeface="Arial"/>
                <a:ea typeface="Arial"/>
                <a:cs typeface="Arial"/>
              </a:defRPr>
            </a:pPr>
            <a:r>
              <a:rPr sz="1725" b="0">
                <a:solidFill>
                  <a:srgbClr val="54655B"/>
                </a:solidFill>
                <a:latin typeface="Arial"/>
                <a:ea typeface="Arial"/>
                <a:cs typeface="Arial"/>
              </a:rPr>
              <a:t>Recorte do projeto: cria nas semanas 1 a 6 e recria nas semanas 7 a 15.</a:t>
            </a:r>
          </a:p>
        </p:txBody>
      </p:sp>
    </p:spTree>
    <p:extLst>
      <p:ext uri="{BB962C8B-B14F-4D97-AF65-F5344CB8AC3E}">
        <p14:creationId xmlns:p14="http://schemas.microsoft.com/office/powerpoint/2010/main" val="433931147"/>
      </p:ext>
    </p:extLst>
  </p:cSld>
</p:sld>
</file>

<file path=ppt/slides/slide3.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0EFCDE2-09DB-4770-800E-7E5A6AC1D90E}"/>
              </a:ext>
            </a:extLst>
          </p:cNvPr>
          <p:cNvSpPr>
            <a:spLocks xmlns:a="http://schemas.openxmlformats.org/drawingml/2006/main" noGrp="1"/>
          </p:cNvSpPr>
          <p:nvPr/>
        </p:nvSpPr>
        <p:spPr>
          <a:xfrm xmlns:a="http://schemas.openxmlformats.org/drawingml/2006/main">
            <a:off x="647700" y="514350"/>
            <a:ext cx="10763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0">
                <a:solidFill>
                  <a:srgbClr val="173D32"/>
                </a:solidFill>
                <a:latin typeface="Arial"/>
                <a:ea typeface="Arial"/>
                <a:cs typeface="Arial"/>
              </a:defRPr>
            </a:pPr>
            <a:r>
              <a:rPr sz="3450" b="0">
                <a:solidFill>
                  <a:srgbClr val="173D32"/>
                </a:solidFill>
                <a:latin typeface="Arial"/>
                <a:ea typeface="Arial"/>
                <a:cs typeface="Arial"/>
              </a:rPr>
              <a:t>Brasil, Europa e Raiar</a:t>
            </a:r>
          </a:p>
        </p:txBody>
      </p:sp>
      <p:sp>
        <p:nvSpPr>
          <p:cNvPr id="2" name="">
            <a:extLst xmlns:a="http://schemas.openxmlformats.org/drawingml/2006/main">
              <a:ext uri="{FF2B5EF4-FFF2-40B4-BE49-F238E27FC236}">
                <a16:creationId xmlns:a16="http://schemas.microsoft.com/office/drawing/2014/main" id="{C2B4D507-F98D-4A57-945D-27CC40FF018D}"/>
              </a:ext>
            </a:extLst>
          </p:cNvPr>
          <p:cNvSpPr>
            <a:spLocks xmlns:a="http://schemas.openxmlformats.org/drawingml/2006/main" noGrp="1"/>
          </p:cNvSpPr>
          <p:nvPr/>
        </p:nvSpPr>
        <p:spPr>
          <a:xfrm xmlns:a="http://schemas.openxmlformats.org/drawingml/2006/main">
            <a:off x="110490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4655B"/>
                </a:solidFill>
                <a:latin typeface="Arial"/>
                <a:ea typeface="Arial"/>
                <a:cs typeface="Arial"/>
              </a:defRPr>
            </a:pPr>
            <a:r>
              <a:rPr sz="1350" b="0">
                <a:solidFill>
                  <a:srgbClr val="54655B"/>
                </a:solidFill>
                <a:latin typeface="Arial"/>
                <a:ea typeface="Arial"/>
                <a:cs typeface="Arial"/>
              </a:rPr>
              <a:t>3</a:t>
            </a:r>
          </a:p>
        </p:txBody>
      </p:sp>
      <p:graphicFrame>
        <p:nvGraphicFramePr>
          <p:cNvPr id="7" name=""/>
          <p:cNvGraphicFramePr/>
          <p:nvPr/>
        </p:nvGraphicFramePr>
        <p:xfrm>
          <a:off xmlns:a="http://schemas.openxmlformats.org/drawingml/2006/main" x="647700" y="1809750"/>
          <a:ext xmlns:a="http://schemas.openxmlformats.org/drawingml/2006/main" cx="10896600" cy="3409950"/>
        </p:xfrm>
        <a:graphic xmlns:a="http://schemas.openxmlformats.org/drawingml/2006/main">
          <a:graphicData uri="http://schemas.openxmlformats.org/drawingml/2006/table">
            <a:tbl>
              <a:tblPr/>
              <a:tblGrid>
                <a:gridCol w="2476500"/>
                <a:gridCol w="4210050"/>
                <a:gridCol w="4210050"/>
              </a:tblGrid>
              <a:tr h="628650">
                <a:tc>
                  <a:txBody>
                    <a:bodyPr/>
                    <a:lstStyle/>
                    <a:p>
                      <a:r>
                        <a:rPr sz="1875" b="0">
                          <a:solidFill>
                            <a:srgbClr val="FFFDF7"/>
                          </a:solidFill>
                          <a:latin typeface="Arial"/>
                          <a:ea typeface="Arial"/>
                          <a:cs typeface="Arial"/>
                        </a:rPr>
                        <a:t>Aspecto</a:t>
                      </a:r>
                    </a:p>
                  </a:txBody>
                  <a:tcPr marL="171450" marR="171450" marT="114300" marB="114300" anchor="ctr">
                    <a:solidFill>
                      <a:srgbClr val="173D32"/>
                    </a:solidFill>
                  </a:tcPr>
                </a:tc>
                <a:tc>
                  <a:txBody>
                    <a:bodyPr/>
                    <a:lstStyle/>
                    <a:p>
                      <a:r>
                        <a:rPr sz="1875" b="0">
                          <a:solidFill>
                            <a:srgbClr val="FFFDF7"/>
                          </a:solidFill>
                          <a:latin typeface="Arial"/>
                          <a:ea typeface="Arial"/>
                          <a:cs typeface="Arial"/>
                        </a:rPr>
                        <a:t>Referências europeias</a:t>
                      </a:r>
                    </a:p>
                  </a:txBody>
                  <a:tcPr marL="171450" marR="171450" marT="114300" marB="114300" anchor="ctr">
                    <a:solidFill>
                      <a:srgbClr val="173D32"/>
                    </a:solidFill>
                  </a:tcPr>
                </a:tc>
                <a:tc>
                  <a:txBody>
                    <a:bodyPr/>
                    <a:lstStyle/>
                    <a:p>
                      <a:r>
                        <a:rPr sz="1875" b="0">
                          <a:solidFill>
                            <a:srgbClr val="FFFDF7"/>
                          </a:solidFill>
                          <a:latin typeface="Arial"/>
                          <a:ea typeface="Arial"/>
                          <a:cs typeface="Arial"/>
                        </a:rPr>
                        <a:t>Raiar e contexto brasileiro</a:t>
                      </a:r>
                    </a:p>
                  </a:txBody>
                  <a:tcPr marL="171450" marR="171450" marT="114300" marB="114300" anchor="ctr">
                    <a:solidFill>
                      <a:srgbClr val="173D32"/>
                    </a:solidFill>
                  </a:tcPr>
                </a:tc>
              </a:tr>
              <a:tr h="927100">
                <a:tc>
                  <a:txBody>
                    <a:bodyPr/>
                    <a:lstStyle/>
                    <a:p>
                      <a:r>
                        <a:rPr sz="1875" b="0">
                          <a:solidFill>
                            <a:srgbClr val="173D32"/>
                          </a:solidFill>
                          <a:latin typeface="Arial"/>
                          <a:ea typeface="Arial"/>
                          <a:cs typeface="Arial"/>
                        </a:rPr>
                        <a:t>Ambiente</a:t>
                      </a:r>
                    </a:p>
                  </a:txBody>
                  <a:tcPr marL="171450" marR="171450" marT="114300" marB="114300" anchor="ctr">
                    <a:solidFill>
                      <a:srgbClr val="FFFDF7"/>
                    </a:solidFill>
                  </a:tcPr>
                </a:tc>
                <a:tc>
                  <a:txBody>
                    <a:bodyPr/>
                    <a:lstStyle/>
                    <a:p>
                      <a:r>
                        <a:rPr sz="1875" b="0">
                          <a:solidFill>
                            <a:srgbClr val="173D32"/>
                          </a:solidFill>
                          <a:latin typeface="Arial"/>
                          <a:ea typeface="Arial"/>
                          <a:cs typeface="Arial"/>
                        </a:rPr>
                        <a:t>Sistemas com níveis e treino de navegação.</a:t>
                      </a:r>
                    </a:p>
                  </a:txBody>
                  <a:tcPr marL="171450" marR="171450" marT="114300" marB="114300" anchor="ctr">
                    <a:solidFill>
                      <a:srgbClr val="FFFDF7"/>
                    </a:solidFill>
                  </a:tcPr>
                </a:tc>
                <a:tc>
                  <a:txBody>
                    <a:bodyPr/>
                    <a:lstStyle/>
                    <a:p>
                      <a:r>
                        <a:rPr sz="1875" b="0">
                          <a:solidFill>
                            <a:srgbClr val="173D32"/>
                          </a:solidFill>
                          <a:latin typeface="Arial"/>
                          <a:ea typeface="Arial"/>
                          <a:cs typeface="Arial"/>
                        </a:rPr>
                        <a:t>A Raiar já utiliza o Jump Start.</a:t>
                      </a:r>
                    </a:p>
                  </a:txBody>
                  <a:tcPr marL="171450" marR="171450" marT="114300" marB="114300" anchor="ctr">
                    <a:solidFill>
                      <a:srgbClr val="FFFDF7"/>
                    </a:solidFill>
                  </a:tcPr>
                </a:tc>
              </a:tr>
              <a:tr h="927100">
                <a:tc>
                  <a:txBody>
                    <a:bodyPr/>
                    <a:lstStyle/>
                    <a:p>
                      <a:r>
                        <a:rPr sz="1875" b="0">
                          <a:solidFill>
                            <a:srgbClr val="173D32"/>
                          </a:solidFill>
                          <a:latin typeface="Arial"/>
                          <a:ea typeface="Arial"/>
                          <a:cs typeface="Arial"/>
                        </a:rPr>
                        <a:t>Bem-estar</a:t>
                      </a:r>
                    </a:p>
                  </a:txBody>
                  <a:tcPr marL="171450" marR="171450" marT="114300" marB="114300" anchor="ctr">
                    <a:solidFill>
                      <a:srgbClr val="F5F2E9"/>
                    </a:solidFill>
                  </a:tcPr>
                </a:tc>
                <a:tc>
                  <a:txBody>
                    <a:bodyPr/>
                    <a:lstStyle/>
                    <a:p>
                      <a:r>
                        <a:rPr sz="1875" b="0">
                          <a:solidFill>
                            <a:srgbClr val="173D32"/>
                          </a:solidFill>
                          <a:latin typeface="Arial"/>
                          <a:ea typeface="Arial"/>
                          <a:cs typeface="Arial"/>
                        </a:rPr>
                        <a:t>Regras para produção orgânica e recomendações da EFSA.</a:t>
                      </a:r>
                    </a:p>
                  </a:txBody>
                  <a:tcPr marL="171450" marR="171450" marT="114300" marB="114300" anchor="ctr">
                    <a:solidFill>
                      <a:srgbClr val="F5F2E9"/>
                    </a:solidFill>
                  </a:tcPr>
                </a:tc>
                <a:tc>
                  <a:txBody>
                    <a:bodyPr/>
                    <a:lstStyle/>
                    <a:p>
                      <a:r>
                        <a:rPr sz="1875" b="0">
                          <a:solidFill>
                            <a:srgbClr val="173D32"/>
                          </a:solidFill>
                          <a:latin typeface="Arial"/>
                          <a:ea typeface="Arial"/>
                          <a:cs typeface="Arial"/>
                        </a:rPr>
                        <a:t>Certificação Certified Humane e orientações do MAPA.</a:t>
                      </a:r>
                    </a:p>
                  </a:txBody>
                  <a:tcPr marL="171450" marR="171450" marT="114300" marB="114300" anchor="ctr">
                    <a:solidFill>
                      <a:srgbClr val="F5F2E9"/>
                    </a:solidFill>
                  </a:tcPr>
                </a:tc>
              </a:tr>
              <a:tr h="927100">
                <a:tc>
                  <a:txBody>
                    <a:bodyPr/>
                    <a:lstStyle/>
                    <a:p>
                      <a:r>
                        <a:rPr sz="1875" b="0">
                          <a:solidFill>
                            <a:srgbClr val="173D32"/>
                          </a:solidFill>
                          <a:latin typeface="Arial"/>
                          <a:ea typeface="Arial"/>
                          <a:cs typeface="Arial"/>
                        </a:rPr>
                        <a:t>Aplicação ao projeto</a:t>
                      </a:r>
                    </a:p>
                  </a:txBody>
                  <a:tcPr marL="171450" marR="171450" marT="114300" marB="114300" anchor="ctr">
                    <a:solidFill>
                      <a:srgbClr val="FFFDF7"/>
                    </a:solidFill>
                  </a:tcPr>
                </a:tc>
                <a:tc>
                  <a:txBody>
                    <a:bodyPr/>
                    <a:lstStyle/>
                    <a:p>
                      <a:r>
                        <a:rPr sz="1875" b="0">
                          <a:solidFill>
                            <a:srgbClr val="173D32"/>
                          </a:solidFill>
                          <a:latin typeface="Arial"/>
                          <a:ea typeface="Arial"/>
                          <a:cs typeface="Arial"/>
                        </a:rPr>
                        <a:t>Parâmetros para avaliar ambiente e comportamento.</a:t>
                      </a:r>
                    </a:p>
                  </a:txBody>
                  <a:tcPr marL="171450" marR="171450" marT="114300" marB="114300" anchor="ctr">
                    <a:solidFill>
                      <a:srgbClr val="FFFDF7"/>
                    </a:solidFill>
                  </a:tcPr>
                </a:tc>
                <a:tc>
                  <a:txBody>
                    <a:bodyPr/>
                    <a:lstStyle/>
                    <a:p>
                      <a:r>
                        <a:rPr sz="1875" b="0">
                          <a:solidFill>
                            <a:srgbClr val="173D32"/>
                          </a:solidFill>
                          <a:latin typeface="Arial"/>
                          <a:ea typeface="Arial"/>
                          <a:cs typeface="Arial"/>
                        </a:rPr>
                        <a:t>Medir o uso dos recursos por lote e idade.</a:t>
                      </a:r>
                    </a:p>
                  </a:txBody>
                  <a:tcPr marL="171450" marR="171450" marT="114300" marB="114300" anchor="ctr">
                    <a:solidFill>
                      <a:srgbClr val="FFFDF7"/>
                    </a:solidFill>
                  </a:tcPr>
                </a:tc>
              </a:tr>
            </a:tbl>
          </a:graphicData>
        </a:graphic>
      </p:graphicFrame>
      <p:sp>
        <p:nvSpPr>
          <p:cNvPr id="4" name="">
            <a:extLst xmlns:a="http://schemas.openxmlformats.org/drawingml/2006/main">
              <a:ext uri="{FF2B5EF4-FFF2-40B4-BE49-F238E27FC236}">
                <a16:creationId xmlns:a16="http://schemas.microsoft.com/office/drawing/2014/main" id="{81D3A6D6-8A31-49FB-96DF-A63130F75B2C}"/>
              </a:ext>
            </a:extLst>
          </p:cNvPr>
          <p:cNvSpPr>
            <a:spLocks xmlns:a="http://schemas.openxmlformats.org/drawingml/2006/main" noGrp="1"/>
          </p:cNvSpPr>
          <p:nvPr/>
        </p:nvSpPr>
        <p:spPr>
          <a:xfrm xmlns:a="http://schemas.openxmlformats.org/drawingml/2006/main">
            <a:off x="647700" y="556260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B25935"/>
                </a:solidFill>
                <a:latin typeface="Arial"/>
                <a:ea typeface="Arial"/>
                <a:cs typeface="Arial"/>
              </a:defRPr>
            </a:pPr>
            <a:r>
              <a:rPr sz="2100" b="0">
                <a:solidFill>
                  <a:srgbClr val="B25935"/>
                </a:solidFill>
                <a:latin typeface="Arial"/>
                <a:ea typeface="Arial"/>
                <a:cs typeface="Arial"/>
              </a:rPr>
              <a:t>A comparação precisa considerar a idade das aves e o tipo de referência.</a:t>
            </a:r>
          </a:p>
        </p:txBody>
      </p:sp>
    </p:spTree>
    <p:extLst>
      <p:ext uri="{BB962C8B-B14F-4D97-AF65-F5344CB8AC3E}">
        <p14:creationId xmlns:p14="http://schemas.microsoft.com/office/powerpoint/2010/main" val="2079013487"/>
      </p:ext>
    </p:extLst>
  </p:cSld>
</p:sld>
</file>

<file path=ppt/slides/slide4.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7840597-BD00-4EA6-A583-D37E40F6EA48}"/>
              </a:ext>
            </a:extLst>
          </p:cNvPr>
          <p:cNvSpPr>
            <a:spLocks xmlns:a="http://schemas.openxmlformats.org/drawingml/2006/main" noGrp="1"/>
          </p:cNvSpPr>
          <p:nvPr/>
        </p:nvSpPr>
        <p:spPr>
          <a:xfrm xmlns:a="http://schemas.openxmlformats.org/drawingml/2006/main">
            <a:off x="647700" y="514350"/>
            <a:ext cx="10763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0">
                <a:solidFill>
                  <a:srgbClr val="173D32"/>
                </a:solidFill>
                <a:latin typeface="Arial"/>
                <a:ea typeface="Arial"/>
                <a:cs typeface="Arial"/>
              </a:defRPr>
            </a:pPr>
            <a:r>
              <a:rPr sz="3450" b="0">
                <a:solidFill>
                  <a:srgbClr val="173D32"/>
                </a:solidFill>
                <a:latin typeface="Arial"/>
                <a:ea typeface="Arial"/>
                <a:cs typeface="Arial"/>
              </a:rPr>
              <a:t>O que a pesquisa europeia mostra</a:t>
            </a:r>
          </a:p>
        </p:txBody>
      </p:sp>
      <p:sp>
        <p:nvSpPr>
          <p:cNvPr id="2" name="">
            <a:extLst xmlns:a="http://schemas.openxmlformats.org/drawingml/2006/main">
              <a:ext uri="{FF2B5EF4-FFF2-40B4-BE49-F238E27FC236}">
                <a16:creationId xmlns:a16="http://schemas.microsoft.com/office/drawing/2014/main" id="{A1FBDCA6-B518-46CE-90BA-1E5EDA89858D}"/>
              </a:ext>
            </a:extLst>
          </p:cNvPr>
          <p:cNvSpPr>
            <a:spLocks xmlns:a="http://schemas.openxmlformats.org/drawingml/2006/main" noGrp="1"/>
          </p:cNvSpPr>
          <p:nvPr/>
        </p:nvSpPr>
        <p:spPr>
          <a:xfrm xmlns:a="http://schemas.openxmlformats.org/drawingml/2006/main">
            <a:off x="110490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4655B"/>
                </a:solidFill>
                <a:latin typeface="Arial"/>
                <a:ea typeface="Arial"/>
                <a:cs typeface="Arial"/>
              </a:defRPr>
            </a:pPr>
            <a:r>
              <a:rPr sz="1350" b="0">
                <a:solidFill>
                  <a:srgbClr val="54655B"/>
                </a:solidFill>
                <a:latin typeface="Arial"/>
                <a:ea typeface="Arial"/>
                <a:cs typeface="Arial"/>
              </a:rPr>
              <a:t>4</a:t>
            </a:r>
          </a:p>
        </p:txBody>
      </p:sp>
      <p:sp>
        <p:nvSpPr>
          <p:cNvPr id="3" name="">
            <a:extLst xmlns:a="http://schemas.openxmlformats.org/drawingml/2006/main">
              <a:ext uri="{FF2B5EF4-FFF2-40B4-BE49-F238E27FC236}">
                <a16:creationId xmlns:a16="http://schemas.microsoft.com/office/drawing/2014/main" id="{EC293F38-1B34-4369-A7DB-55D3EAFD1BB2}"/>
              </a:ext>
            </a:extLst>
          </p:cNvPr>
          <p:cNvSpPr>
            <a:spLocks xmlns:a="http://schemas.openxmlformats.org/drawingml/2006/main" noGrp="1"/>
          </p:cNvSpPr>
          <p:nvPr/>
        </p:nvSpPr>
        <p:spPr>
          <a:xfrm xmlns:a="http://schemas.openxmlformats.org/drawingml/2006/main">
            <a:off x="647700" y="1971675"/>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0">
                <a:solidFill>
                  <a:srgbClr val="B25935"/>
                </a:solidFill>
                <a:latin typeface="Arial"/>
                <a:ea typeface="Arial"/>
                <a:cs typeface="Arial"/>
              </a:defRPr>
            </a:pPr>
            <a:r>
              <a:rPr sz="4800" b="0">
                <a:solidFill>
                  <a:srgbClr val="B25935"/>
                </a:solidFill>
                <a:latin typeface="Arial"/>
                <a:ea typeface="Arial"/>
                <a:cs typeface="Arial"/>
              </a:rPr>
              <a:t>59 lotes</a:t>
            </a:r>
          </a:p>
        </p:txBody>
      </p:sp>
      <p:sp>
        <p:nvSpPr>
          <p:cNvPr id="4" name="">
            <a:extLst xmlns:a="http://schemas.openxmlformats.org/drawingml/2006/main">
              <a:ext uri="{FF2B5EF4-FFF2-40B4-BE49-F238E27FC236}">
                <a16:creationId xmlns:a16="http://schemas.microsoft.com/office/drawing/2014/main" id="{615B09ED-AC5A-4A34-B9AF-17FCF7E0CB8F}"/>
              </a:ext>
            </a:extLst>
          </p:cNvPr>
          <p:cNvSpPr>
            <a:spLocks xmlns:a="http://schemas.openxmlformats.org/drawingml/2006/main" noGrp="1"/>
          </p:cNvSpPr>
          <p:nvPr/>
        </p:nvSpPr>
        <p:spPr>
          <a:xfrm xmlns:a="http://schemas.openxmlformats.org/drawingml/2006/main">
            <a:off x="647700" y="2943225"/>
            <a:ext cx="4905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3D32"/>
                </a:solidFill>
                <a:latin typeface="Arial"/>
                <a:ea typeface="Arial"/>
                <a:cs typeface="Arial"/>
              </a:defRPr>
            </a:pPr>
            <a:r>
              <a:rPr sz="2100" b="0">
                <a:solidFill>
                  <a:srgbClr val="173D32"/>
                </a:solidFill>
                <a:latin typeface="Arial"/>
                <a:ea typeface="Arial"/>
                <a:cs typeface="Arial"/>
              </a:rPr>
              <a:t>Estudo comercial na Suécia</a:t>
            </a:r>
          </a:p>
        </p:txBody>
      </p:sp>
      <p:sp>
        <p:nvSpPr>
          <p:cNvPr id="5" name="">
            <a:extLst xmlns:a="http://schemas.openxmlformats.org/drawingml/2006/main">
              <a:ext uri="{FF2B5EF4-FFF2-40B4-BE49-F238E27FC236}">
                <a16:creationId xmlns:a16="http://schemas.microsoft.com/office/drawing/2014/main" id="{1E5584C9-2E96-40C6-AAE7-8887D9E6D6DD}"/>
              </a:ext>
            </a:extLst>
          </p:cNvPr>
          <p:cNvSpPr>
            <a:spLocks xmlns:a="http://schemas.openxmlformats.org/drawingml/2006/main" noGrp="1"/>
          </p:cNvSpPr>
          <p:nvPr/>
        </p:nvSpPr>
        <p:spPr>
          <a:xfrm xmlns:a="http://schemas.openxmlformats.org/drawingml/2006/main">
            <a:off x="647700" y="3581400"/>
            <a:ext cx="490537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3D32"/>
                </a:solidFill>
                <a:latin typeface="Arial"/>
                <a:ea typeface="Arial"/>
                <a:cs typeface="Arial"/>
              </a:defRPr>
            </a:pPr>
            <a:r>
              <a:rPr sz="2250" b="0">
                <a:solidFill>
                  <a:srgbClr val="173D32"/>
                </a:solidFill>
                <a:latin typeface="Arial"/>
                <a:ea typeface="Arial"/>
                <a:cs typeface="Arial"/>
              </a:rPr>
              <a:t>Acesso a poleiros até a quarta semana se associou a menos ovos no piso depois.</a:t>
            </a:r>
          </a:p>
        </p:txBody>
      </p:sp>
      <p:sp>
        <p:nvSpPr>
          <p:cNvPr id="6" name="">
            <a:extLst xmlns:a="http://schemas.openxmlformats.org/drawingml/2006/main">
              <a:ext uri="{FF2B5EF4-FFF2-40B4-BE49-F238E27FC236}">
                <a16:creationId xmlns:a16="http://schemas.microsoft.com/office/drawing/2014/main" id="{7E88F0CC-F737-4F3B-9E07-F677DB6D2AB0}"/>
              </a:ext>
            </a:extLst>
          </p:cNvPr>
          <p:cNvSpPr>
            <a:spLocks xmlns:a="http://schemas.openxmlformats.org/drawingml/2006/main" noGrp="1"/>
          </p:cNvSpPr>
          <p:nvPr/>
        </p:nvSpPr>
        <p:spPr>
          <a:xfrm xmlns:a="http://schemas.openxmlformats.org/drawingml/2006/main">
            <a:off x="6505575" y="1971675"/>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0">
                <a:solidFill>
                  <a:srgbClr val="B25935"/>
                </a:solidFill>
                <a:latin typeface="Arial"/>
                <a:ea typeface="Arial"/>
                <a:cs typeface="Arial"/>
              </a:defRPr>
            </a:pPr>
            <a:r>
              <a:rPr sz="4800" b="0">
                <a:solidFill>
                  <a:srgbClr val="B25935"/>
                </a:solidFill>
                <a:latin typeface="Arial"/>
                <a:ea typeface="Arial"/>
                <a:cs typeface="Arial"/>
              </a:rPr>
              <a:t>2024</a:t>
            </a:r>
          </a:p>
        </p:txBody>
      </p:sp>
      <p:sp>
        <p:nvSpPr>
          <p:cNvPr id="7" name="">
            <a:extLst xmlns:a="http://schemas.openxmlformats.org/drawingml/2006/main">
              <a:ext uri="{FF2B5EF4-FFF2-40B4-BE49-F238E27FC236}">
                <a16:creationId xmlns:a16="http://schemas.microsoft.com/office/drawing/2014/main" id="{4D395689-0F5A-4274-931B-F1ADD0F205F2}"/>
              </a:ext>
            </a:extLst>
          </p:cNvPr>
          <p:cNvSpPr>
            <a:spLocks xmlns:a="http://schemas.openxmlformats.org/drawingml/2006/main" noGrp="1"/>
          </p:cNvSpPr>
          <p:nvPr/>
        </p:nvSpPr>
        <p:spPr>
          <a:xfrm xmlns:a="http://schemas.openxmlformats.org/drawingml/2006/main">
            <a:off x="6505575" y="2943225"/>
            <a:ext cx="4905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3D32"/>
                </a:solidFill>
                <a:latin typeface="Arial"/>
                <a:ea typeface="Arial"/>
                <a:cs typeface="Arial"/>
              </a:defRPr>
            </a:pPr>
            <a:r>
              <a:rPr sz="2100" b="0">
                <a:solidFill>
                  <a:srgbClr val="173D32"/>
                </a:solidFill>
                <a:latin typeface="Arial"/>
                <a:ea typeface="Arial"/>
                <a:cs typeface="Arial"/>
              </a:rPr>
              <a:t>Pesquisa experimental europeia</a:t>
            </a:r>
          </a:p>
        </p:txBody>
      </p:sp>
      <p:sp>
        <p:nvSpPr>
          <p:cNvPr id="8" name="">
            <a:extLst xmlns:a="http://schemas.openxmlformats.org/drawingml/2006/main">
              <a:ext uri="{FF2B5EF4-FFF2-40B4-BE49-F238E27FC236}">
                <a16:creationId xmlns:a16="http://schemas.microsoft.com/office/drawing/2014/main" id="{A13F343F-A0BC-4DC1-8470-7198FA44CBEF}"/>
              </a:ext>
            </a:extLst>
          </p:cNvPr>
          <p:cNvSpPr>
            <a:spLocks xmlns:a="http://schemas.openxmlformats.org/drawingml/2006/main" noGrp="1"/>
          </p:cNvSpPr>
          <p:nvPr/>
        </p:nvSpPr>
        <p:spPr>
          <a:xfrm xmlns:a="http://schemas.openxmlformats.org/drawingml/2006/main">
            <a:off x="6505575" y="3581400"/>
            <a:ext cx="490537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3D32"/>
                </a:solidFill>
                <a:latin typeface="Arial"/>
                <a:ea typeface="Arial"/>
                <a:cs typeface="Arial"/>
              </a:defRPr>
            </a:pPr>
            <a:r>
              <a:rPr sz="2250" b="0">
                <a:solidFill>
                  <a:srgbClr val="173D32"/>
                </a:solidFill>
                <a:latin typeface="Arial"/>
                <a:ea typeface="Arial"/>
                <a:cs typeface="Arial"/>
              </a:rPr>
              <a:t>Mais opções no ambiente favoreceram a exploração do novo aviário.</a:t>
            </a:r>
          </a:p>
        </p:txBody>
      </p:sp>
      <p:sp>
        <p:nvSpPr>
          <p:cNvPr id="9" name="">
            <a:extLst xmlns:a="http://schemas.openxmlformats.org/drawingml/2006/main">
              <a:ext uri="{FF2B5EF4-FFF2-40B4-BE49-F238E27FC236}">
                <a16:creationId xmlns:a16="http://schemas.microsoft.com/office/drawing/2014/main" id="{1B6CC121-D582-44B9-9D87-1D664B3C474B}"/>
              </a:ext>
            </a:extLst>
          </p:cNvPr>
          <p:cNvSpPr>
            <a:spLocks xmlns:a="http://schemas.openxmlformats.org/drawingml/2006/main" noGrp="1"/>
          </p:cNvSpPr>
          <p:nvPr/>
        </p:nvSpPr>
        <p:spPr>
          <a:xfrm xmlns:a="http://schemas.openxmlformats.org/drawingml/2006/main">
            <a:off x="647700" y="539115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4655B"/>
                </a:solidFill>
                <a:latin typeface="Arial"/>
                <a:ea typeface="Arial"/>
                <a:cs typeface="Arial"/>
              </a:defRPr>
            </a:pPr>
            <a:r>
              <a:rPr sz="1950" b="0">
                <a:solidFill>
                  <a:srgbClr val="54655B"/>
                </a:solidFill>
                <a:latin typeface="Arial"/>
                <a:ea typeface="Arial"/>
                <a:cs typeface="Arial"/>
              </a:rPr>
              <a:t>Os resultados apoiam medir o comportamento. A redução de ovos de cama ainda precisa ser demonstrada na Raiar.</a:t>
            </a:r>
          </a:p>
        </p:txBody>
      </p:sp>
    </p:spTree>
    <p:extLst>
      <p:ext uri="{BB962C8B-B14F-4D97-AF65-F5344CB8AC3E}">
        <p14:creationId xmlns:p14="http://schemas.microsoft.com/office/powerpoint/2010/main" val="963988406"/>
      </p:ext>
    </p:extLst>
  </p:cSld>
</p:sld>
</file>

<file path=ppt/slides/slide5.xml><?xml version="1.0" encoding="utf-8"?>
<p:sld xmlns:p="http://schemas.openxmlformats.org/presentationml/2006/main">
  <p:cSld>
    <p:bg>
      <p:bgPr>
        <a:solidFill xmlns:a="http://schemas.openxmlformats.org/drawingml/2006/main">
          <a:srgbClr val="173D3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9365180-3749-4D81-959B-2124187A4EC9}"/>
              </a:ext>
            </a:extLst>
          </p:cNvPr>
          <p:cNvSpPr>
            <a:spLocks xmlns:a="http://schemas.openxmlformats.org/drawingml/2006/main" noGrp="1"/>
          </p:cNvSpPr>
          <p:nvPr/>
        </p:nvSpPr>
        <p:spPr>
          <a:xfrm xmlns:a="http://schemas.openxmlformats.org/drawingml/2006/main">
            <a:off x="647700" y="514350"/>
            <a:ext cx="10763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0">
                <a:solidFill>
                  <a:srgbClr val="FFFDF7"/>
                </a:solidFill>
                <a:latin typeface="Arial"/>
                <a:ea typeface="Arial"/>
                <a:cs typeface="Arial"/>
              </a:defRPr>
            </a:pPr>
            <a:r>
              <a:rPr sz="3450" b="0">
                <a:solidFill>
                  <a:srgbClr val="FFFDF7"/>
                </a:solidFill>
                <a:latin typeface="Arial"/>
                <a:ea typeface="Arial"/>
                <a:cs typeface="Arial"/>
              </a:rPr>
              <a:t>Oportunidade para o projeto</a:t>
            </a:r>
          </a:p>
        </p:txBody>
      </p:sp>
      <p:sp>
        <p:nvSpPr>
          <p:cNvPr id="2" name="">
            <a:extLst xmlns:a="http://schemas.openxmlformats.org/drawingml/2006/main">
              <a:ext uri="{FF2B5EF4-FFF2-40B4-BE49-F238E27FC236}">
                <a16:creationId xmlns:a16="http://schemas.microsoft.com/office/drawing/2014/main" id="{365BFCD9-C9FC-4A7A-B2B6-FD357BC1DE43}"/>
              </a:ext>
            </a:extLst>
          </p:cNvPr>
          <p:cNvSpPr>
            <a:spLocks xmlns:a="http://schemas.openxmlformats.org/drawingml/2006/main" noGrp="1"/>
          </p:cNvSpPr>
          <p:nvPr/>
        </p:nvSpPr>
        <p:spPr>
          <a:xfrm xmlns:a="http://schemas.openxmlformats.org/drawingml/2006/main">
            <a:off x="110490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D7E3D4"/>
                </a:solidFill>
                <a:latin typeface="Arial"/>
                <a:ea typeface="Arial"/>
                <a:cs typeface="Arial"/>
              </a:defRPr>
            </a:pPr>
            <a:r>
              <a:rPr sz="1350" b="0">
                <a:solidFill>
                  <a:srgbClr val="D7E3D4"/>
                </a:solidFill>
                <a:latin typeface="Arial"/>
                <a:ea typeface="Arial"/>
                <a:cs typeface="Arial"/>
              </a:rPr>
              <a:t>5</a:t>
            </a:r>
          </a:p>
        </p:txBody>
      </p:sp>
      <p:sp>
        <p:nvSpPr>
          <p:cNvPr id="3" name="">
            <a:extLst xmlns:a="http://schemas.openxmlformats.org/drawingml/2006/main">
              <a:ext uri="{FF2B5EF4-FFF2-40B4-BE49-F238E27FC236}">
                <a16:creationId xmlns:a16="http://schemas.microsoft.com/office/drawing/2014/main" id="{B0F37C5B-285D-4598-9985-7D16E1A3442D}"/>
              </a:ext>
            </a:extLst>
          </p:cNvPr>
          <p:cNvSpPr>
            <a:spLocks xmlns:a="http://schemas.openxmlformats.org/drawingml/2006/main" noGrp="1"/>
          </p:cNvSpPr>
          <p:nvPr/>
        </p:nvSpPr>
        <p:spPr>
          <a:xfrm xmlns:a="http://schemas.openxmlformats.org/drawingml/2006/main">
            <a:off x="647700" y="1866900"/>
            <a:ext cx="1047750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650" b="0">
                <a:solidFill>
                  <a:srgbClr val="FFFDF7"/>
                </a:solidFill>
                <a:latin typeface="Arial"/>
                <a:ea typeface="Arial"/>
                <a:cs typeface="Arial"/>
              </a:defRPr>
            </a:pPr>
            <a:r>
              <a:rPr sz="4650" b="0">
                <a:solidFill>
                  <a:srgbClr val="FFFDF7"/>
                </a:solidFill>
                <a:latin typeface="Arial"/>
                <a:ea typeface="Arial"/>
                <a:cs typeface="Arial"/>
              </a:rPr>
              <a:t>Medir como cada lote</a:t>
            </a:r>
          </a:p>
          <a:p xmlns:a="http://schemas.openxmlformats.org/drawingml/2006/main">
            <a:pPr>
              <a:defRPr sz="4650" b="0">
                <a:solidFill>
                  <a:srgbClr val="FFFDF7"/>
                </a:solidFill>
                <a:latin typeface="Arial"/>
                <a:ea typeface="Arial"/>
                <a:cs typeface="Arial"/>
              </a:defRPr>
            </a:pPr>
            <a:r>
              <a:rPr sz="4650" b="0">
                <a:solidFill>
                  <a:srgbClr val="FFFDF7"/>
                </a:solidFill>
                <a:latin typeface="Arial"/>
                <a:ea typeface="Arial"/>
                <a:cs typeface="Arial"/>
              </a:rPr>
              <a:t>usa o Jump Start</a:t>
            </a:r>
          </a:p>
        </p:txBody>
      </p:sp>
      <p:sp>
        <p:nvSpPr>
          <p:cNvPr id="4" name="">
            <a:extLst xmlns:a="http://schemas.openxmlformats.org/drawingml/2006/main">
              <a:ext uri="{FF2B5EF4-FFF2-40B4-BE49-F238E27FC236}">
                <a16:creationId xmlns:a16="http://schemas.microsoft.com/office/drawing/2014/main" id="{771FD40E-9077-46F3-91FB-F944489C3EC0}"/>
              </a:ext>
            </a:extLst>
          </p:cNvPr>
          <p:cNvSpPr>
            <a:spLocks xmlns:a="http://schemas.openxmlformats.org/drawingml/2006/main" noGrp="1"/>
          </p:cNvSpPr>
          <p:nvPr/>
        </p:nvSpPr>
        <p:spPr>
          <a:xfrm xmlns:a="http://schemas.openxmlformats.org/drawingml/2006/main">
            <a:off x="647700" y="4200525"/>
            <a:ext cx="4667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D7E3D4"/>
                </a:solidFill>
                <a:latin typeface="Arial"/>
                <a:ea typeface="Arial"/>
                <a:cs typeface="Arial"/>
              </a:defRPr>
            </a:pPr>
            <a:r>
              <a:rPr sz="2250" b="0">
                <a:solidFill>
                  <a:srgbClr val="D7E3D4"/>
                </a:solidFill>
                <a:latin typeface="Arial"/>
                <a:ea typeface="Arial"/>
                <a:cs typeface="Arial"/>
              </a:rPr>
              <a:t>Pergunta para o piloto</a:t>
            </a:r>
          </a:p>
        </p:txBody>
      </p:sp>
      <p:sp>
        <p:nvSpPr>
          <p:cNvPr id="5" name="">
            <a:extLst xmlns:a="http://schemas.openxmlformats.org/drawingml/2006/main">
              <a:ext uri="{FF2B5EF4-FFF2-40B4-BE49-F238E27FC236}">
                <a16:creationId xmlns:a16="http://schemas.microsoft.com/office/drawing/2014/main" id="{0161DB22-F9E3-42C1-AB7C-0899650FC8B0}"/>
              </a:ext>
            </a:extLst>
          </p:cNvPr>
          <p:cNvSpPr>
            <a:spLocks xmlns:a="http://schemas.openxmlformats.org/drawingml/2006/main" noGrp="1"/>
          </p:cNvSpPr>
          <p:nvPr/>
        </p:nvSpPr>
        <p:spPr>
          <a:xfrm xmlns:a="http://schemas.openxmlformats.org/drawingml/2006/main">
            <a:off x="647700" y="4752975"/>
            <a:ext cx="4762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FFDF7"/>
                </a:solidFill>
                <a:latin typeface="Arial"/>
                <a:ea typeface="Arial"/>
                <a:cs typeface="Arial"/>
              </a:defRPr>
            </a:pPr>
            <a:r>
              <a:rPr sz="2175" b="0">
                <a:solidFill>
                  <a:srgbClr val="FFFDF7"/>
                </a:solidFill>
                <a:latin typeface="Arial"/>
                <a:ea typeface="Arial"/>
                <a:cs typeface="Arial"/>
              </a:rPr>
              <a:t>Como as aves usam os níveis e se preparam para o aviário de postura?</a:t>
            </a:r>
          </a:p>
        </p:txBody>
      </p:sp>
      <p:sp>
        <p:nvSpPr>
          <p:cNvPr id="6" name="">
            <a:extLst xmlns:a="http://schemas.openxmlformats.org/drawingml/2006/main">
              <a:ext uri="{FF2B5EF4-FFF2-40B4-BE49-F238E27FC236}">
                <a16:creationId xmlns:a16="http://schemas.microsoft.com/office/drawing/2014/main" id="{8A1638C0-AB27-413F-A164-DA93D1E42578}"/>
              </a:ext>
            </a:extLst>
          </p:cNvPr>
          <p:cNvSpPr>
            <a:spLocks xmlns:a="http://schemas.openxmlformats.org/drawingml/2006/main" noGrp="1"/>
          </p:cNvSpPr>
          <p:nvPr/>
        </p:nvSpPr>
        <p:spPr>
          <a:xfrm xmlns:a="http://schemas.openxmlformats.org/drawingml/2006/main">
            <a:off x="6505575" y="420052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D7E3D4"/>
                </a:solidFill>
                <a:latin typeface="Arial"/>
                <a:ea typeface="Arial"/>
                <a:cs typeface="Arial"/>
              </a:defRPr>
            </a:pPr>
            <a:r>
              <a:rPr sz="2250" b="0">
                <a:solidFill>
                  <a:srgbClr val="D7E3D4"/>
                </a:solidFill>
                <a:latin typeface="Arial"/>
                <a:ea typeface="Arial"/>
                <a:cs typeface="Arial"/>
              </a:rPr>
              <a:t>Contribuição esperada</a:t>
            </a:r>
          </a:p>
        </p:txBody>
      </p:sp>
      <p:sp>
        <p:nvSpPr>
          <p:cNvPr id="7" name="">
            <a:extLst xmlns:a="http://schemas.openxmlformats.org/drawingml/2006/main">
              <a:ext uri="{FF2B5EF4-FFF2-40B4-BE49-F238E27FC236}">
                <a16:creationId xmlns:a16="http://schemas.microsoft.com/office/drawing/2014/main" id="{F1497B6A-4E62-4463-82F4-DA5454766D74}"/>
              </a:ext>
            </a:extLst>
          </p:cNvPr>
          <p:cNvSpPr>
            <a:spLocks xmlns:a="http://schemas.openxmlformats.org/drawingml/2006/main" noGrp="1"/>
          </p:cNvSpPr>
          <p:nvPr/>
        </p:nvSpPr>
        <p:spPr>
          <a:xfrm xmlns:a="http://schemas.openxmlformats.org/drawingml/2006/main">
            <a:off x="6505575" y="4752975"/>
            <a:ext cx="4762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FFDF7"/>
                </a:solidFill>
                <a:latin typeface="Arial"/>
                <a:ea typeface="Arial"/>
                <a:cs typeface="Arial"/>
              </a:defRPr>
            </a:pPr>
            <a:r>
              <a:rPr sz="2175" b="0">
                <a:solidFill>
                  <a:srgbClr val="FFFDF7"/>
                </a:solidFill>
                <a:latin typeface="Arial"/>
                <a:ea typeface="Arial"/>
                <a:cs typeface="Arial"/>
              </a:rPr>
              <a:t>Criar um histórico por idade e zona para apoiar a avaliação da equipe técnica.</a:t>
            </a:r>
          </a:p>
        </p:txBody>
      </p:sp>
    </p:spTree>
    <p:extLst>
      <p:ext uri="{BB962C8B-B14F-4D97-AF65-F5344CB8AC3E}">
        <p14:creationId xmlns:p14="http://schemas.microsoft.com/office/powerpoint/2010/main" val="1497623095"/>
      </p:ext>
    </p:extLst>
  </p:cSld>
</p:sld>
</file>

<file path=ppt/slides/slide6.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E02858D-C892-4E2D-A285-E80D50043D05}"/>
              </a:ext>
            </a:extLst>
          </p:cNvPr>
          <p:cNvSpPr>
            <a:spLocks xmlns:a="http://schemas.openxmlformats.org/drawingml/2006/main" noGrp="1"/>
          </p:cNvSpPr>
          <p:nvPr/>
        </p:nvSpPr>
        <p:spPr>
          <a:xfrm xmlns:a="http://schemas.openxmlformats.org/drawingml/2006/main">
            <a:off x="647700" y="514350"/>
            <a:ext cx="10763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0">
                <a:solidFill>
                  <a:srgbClr val="173D32"/>
                </a:solidFill>
                <a:latin typeface="Arial"/>
                <a:ea typeface="Arial"/>
                <a:cs typeface="Arial"/>
              </a:defRPr>
            </a:pPr>
            <a:r>
              <a:rPr sz="3450" b="0">
                <a:solidFill>
                  <a:srgbClr val="173D32"/>
                </a:solidFill>
                <a:latin typeface="Arial"/>
                <a:ea typeface="Arial"/>
                <a:cs typeface="Arial"/>
              </a:rPr>
              <a:t>Aplicação da AgroTech Inteli</a:t>
            </a:r>
          </a:p>
        </p:txBody>
      </p:sp>
      <p:sp>
        <p:nvSpPr>
          <p:cNvPr id="2" name="">
            <a:extLst xmlns:a="http://schemas.openxmlformats.org/drawingml/2006/main">
              <a:ext uri="{FF2B5EF4-FFF2-40B4-BE49-F238E27FC236}">
                <a16:creationId xmlns:a16="http://schemas.microsoft.com/office/drawing/2014/main" id="{ED0594BE-5134-4E5A-951B-85582BA5724D}"/>
              </a:ext>
            </a:extLst>
          </p:cNvPr>
          <p:cNvSpPr>
            <a:spLocks xmlns:a="http://schemas.openxmlformats.org/drawingml/2006/main" noGrp="1"/>
          </p:cNvSpPr>
          <p:nvPr/>
        </p:nvSpPr>
        <p:spPr>
          <a:xfrm xmlns:a="http://schemas.openxmlformats.org/drawingml/2006/main">
            <a:off x="110490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4655B"/>
                </a:solidFill>
                <a:latin typeface="Arial"/>
                <a:ea typeface="Arial"/>
                <a:cs typeface="Arial"/>
              </a:defRPr>
            </a:pPr>
            <a:r>
              <a:rPr sz="1350" b="0">
                <a:solidFill>
                  <a:srgbClr val="54655B"/>
                </a:solidFill>
                <a:latin typeface="Arial"/>
                <a:ea typeface="Arial"/>
                <a:cs typeface="Arial"/>
              </a:rPr>
              <a:t>6</a:t>
            </a:r>
          </a:p>
        </p:txBody>
      </p:sp>
      <p:sp>
        <p:nvSpPr>
          <p:cNvPr id="3" name="">
            <a:extLst xmlns:a="http://schemas.openxmlformats.org/drawingml/2006/main">
              <a:ext uri="{FF2B5EF4-FFF2-40B4-BE49-F238E27FC236}">
                <a16:creationId xmlns:a16="http://schemas.microsoft.com/office/drawing/2014/main" id="{DB131C78-4DE0-453F-8A37-CC208A315D57}"/>
              </a:ext>
            </a:extLst>
          </p:cNvPr>
          <p:cNvSpPr>
            <a:spLocks xmlns:a="http://schemas.openxmlformats.org/drawingml/2006/main" noGrp="1"/>
          </p:cNvSpPr>
          <p:nvPr/>
        </p:nvSpPr>
        <p:spPr>
          <a:xfrm xmlns:a="http://schemas.openxmlformats.org/drawingml/2006/main">
            <a:off x="647700" y="1933575"/>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0">
                <a:solidFill>
                  <a:srgbClr val="B25935"/>
                </a:solidFill>
                <a:latin typeface="Arial"/>
                <a:ea typeface="Arial"/>
                <a:cs typeface="Arial"/>
              </a:defRPr>
            </a:pPr>
            <a:r>
              <a:rPr sz="2925" b="0">
                <a:solidFill>
                  <a:srgbClr val="B25935"/>
                </a:solidFill>
                <a:latin typeface="Arial"/>
                <a:ea typeface="Arial"/>
                <a:cs typeface="Arial"/>
              </a:rPr>
              <a:t>Semanas 1 a 15</a:t>
            </a:r>
          </a:p>
        </p:txBody>
      </p:sp>
      <p:sp>
        <p:nvSpPr>
          <p:cNvPr id="4" name="">
            <a:extLst xmlns:a="http://schemas.openxmlformats.org/drawingml/2006/main">
              <a:ext uri="{FF2B5EF4-FFF2-40B4-BE49-F238E27FC236}">
                <a16:creationId xmlns:a16="http://schemas.microsoft.com/office/drawing/2014/main" id="{9868AADA-E14B-4F6A-8039-3F3EEE8E2E02}"/>
              </a:ext>
            </a:extLst>
          </p:cNvPr>
          <p:cNvSpPr>
            <a:spLocks xmlns:a="http://schemas.openxmlformats.org/drawingml/2006/main" noGrp="1"/>
          </p:cNvSpPr>
          <p:nvPr/>
        </p:nvSpPr>
        <p:spPr>
          <a:xfrm xmlns:a="http://schemas.openxmlformats.org/drawingml/2006/main">
            <a:off x="647700" y="270510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3D32"/>
                </a:solidFill>
                <a:latin typeface="Arial"/>
                <a:ea typeface="Arial"/>
                <a:cs typeface="Arial"/>
              </a:defRPr>
            </a:pPr>
            <a:r>
              <a:rPr sz="2250" b="0">
                <a:solidFill>
                  <a:srgbClr val="173D32"/>
                </a:solidFill>
                <a:latin typeface="Arial"/>
                <a:ea typeface="Arial"/>
                <a:cs typeface="Arial"/>
              </a:rPr>
              <a:t>Movimento e comportamento</a:t>
            </a:r>
          </a:p>
        </p:txBody>
      </p:sp>
      <p:sp>
        <p:nvSpPr>
          <p:cNvPr id="5" name="">
            <a:extLst xmlns:a="http://schemas.openxmlformats.org/drawingml/2006/main">
              <a:ext uri="{FF2B5EF4-FFF2-40B4-BE49-F238E27FC236}">
                <a16:creationId xmlns:a16="http://schemas.microsoft.com/office/drawing/2014/main" id="{F7F036B4-08C1-421C-86D1-62CAD530D42D}"/>
              </a:ext>
            </a:extLst>
          </p:cNvPr>
          <p:cNvSpPr>
            <a:spLocks xmlns:a="http://schemas.openxmlformats.org/drawingml/2006/main" noGrp="1"/>
          </p:cNvSpPr>
          <p:nvPr/>
        </p:nvSpPr>
        <p:spPr>
          <a:xfrm xmlns:a="http://schemas.openxmlformats.org/drawingml/2006/main">
            <a:off x="647700" y="3409950"/>
            <a:ext cx="4953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3D32"/>
                </a:solidFill>
                <a:latin typeface="Arial"/>
                <a:ea typeface="Arial"/>
                <a:cs typeface="Arial"/>
              </a:defRPr>
            </a:pPr>
            <a:r>
              <a:rPr sz="2175" b="0">
                <a:solidFill>
                  <a:srgbClr val="173D32"/>
                </a:solidFill>
                <a:latin typeface="Arial"/>
                <a:ea typeface="Arial"/>
                <a:cs typeface="Arial"/>
              </a:rPr>
              <a:t>Câmeras e fluxo óptico para acompanhar atividade por zona e horário.</a:t>
            </a:r>
          </a:p>
        </p:txBody>
      </p:sp>
      <p:sp>
        <p:nvSpPr>
          <p:cNvPr id="6" name="">
            <a:extLst xmlns:a="http://schemas.openxmlformats.org/drawingml/2006/main">
              <a:ext uri="{FF2B5EF4-FFF2-40B4-BE49-F238E27FC236}">
                <a16:creationId xmlns:a16="http://schemas.microsoft.com/office/drawing/2014/main" id="{09DAA629-B6DF-4097-AD5E-D7DB3FAAC35A}"/>
              </a:ext>
            </a:extLst>
          </p:cNvPr>
          <p:cNvSpPr>
            <a:spLocks xmlns:a="http://schemas.openxmlformats.org/drawingml/2006/main" noGrp="1"/>
          </p:cNvSpPr>
          <p:nvPr/>
        </p:nvSpPr>
        <p:spPr>
          <a:xfrm xmlns:a="http://schemas.openxmlformats.org/drawingml/2006/main">
            <a:off x="647700" y="4686300"/>
            <a:ext cx="4953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4655B"/>
                </a:solidFill>
                <a:latin typeface="Arial"/>
                <a:ea typeface="Arial"/>
                <a:cs typeface="Arial"/>
              </a:defRPr>
            </a:pPr>
            <a:r>
              <a:rPr sz="1950" b="0">
                <a:solidFill>
                  <a:srgbClr val="54655B"/>
                </a:solidFill>
                <a:latin typeface="Arial"/>
                <a:ea typeface="Arial"/>
                <a:cs typeface="Arial"/>
              </a:rPr>
              <a:t>Calibração por idade e validação com observações da equipe.</a:t>
            </a:r>
          </a:p>
        </p:txBody>
      </p:sp>
      <p:sp>
        <p:nvSpPr>
          <p:cNvPr id="7" name="">
            <a:extLst xmlns:a="http://schemas.openxmlformats.org/drawingml/2006/main">
              <a:ext uri="{FF2B5EF4-FFF2-40B4-BE49-F238E27FC236}">
                <a16:creationId xmlns:a16="http://schemas.microsoft.com/office/drawing/2014/main" id="{E16BF480-53D0-4DA4-8174-7E3DE06A010D}"/>
              </a:ext>
            </a:extLst>
          </p:cNvPr>
          <p:cNvSpPr>
            <a:spLocks xmlns:a="http://schemas.openxmlformats.org/drawingml/2006/main" noGrp="1"/>
          </p:cNvSpPr>
          <p:nvPr/>
        </p:nvSpPr>
        <p:spPr>
          <a:xfrm xmlns:a="http://schemas.openxmlformats.org/drawingml/2006/main">
            <a:off x="6505575" y="1933575"/>
            <a:ext cx="500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0">
                <a:solidFill>
                  <a:srgbClr val="B25935"/>
                </a:solidFill>
                <a:latin typeface="Arial"/>
                <a:ea typeface="Arial"/>
                <a:cs typeface="Arial"/>
              </a:defRPr>
            </a:pPr>
            <a:r>
              <a:rPr sz="2925" b="0">
                <a:solidFill>
                  <a:srgbClr val="B25935"/>
                </a:solidFill>
                <a:latin typeface="Arial"/>
                <a:ea typeface="Arial"/>
                <a:cs typeface="Arial"/>
              </a:rPr>
              <a:t>Após a transferência</a:t>
            </a:r>
          </a:p>
        </p:txBody>
      </p:sp>
      <p:sp>
        <p:nvSpPr>
          <p:cNvPr id="8" name="">
            <a:extLst xmlns:a="http://schemas.openxmlformats.org/drawingml/2006/main">
              <a:ext uri="{FF2B5EF4-FFF2-40B4-BE49-F238E27FC236}">
                <a16:creationId xmlns:a16="http://schemas.microsoft.com/office/drawing/2014/main" id="{ACB784E8-D0D7-42DC-A660-0F421C8DAC86}"/>
              </a:ext>
            </a:extLst>
          </p:cNvPr>
          <p:cNvSpPr>
            <a:spLocks xmlns:a="http://schemas.openxmlformats.org/drawingml/2006/main" noGrp="1"/>
          </p:cNvSpPr>
          <p:nvPr/>
        </p:nvSpPr>
        <p:spPr>
          <a:xfrm xmlns:a="http://schemas.openxmlformats.org/drawingml/2006/main">
            <a:off x="6505575" y="270510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3D32"/>
                </a:solidFill>
                <a:latin typeface="Arial"/>
                <a:ea typeface="Arial"/>
                <a:cs typeface="Arial"/>
              </a:defRPr>
            </a:pPr>
            <a:r>
              <a:rPr sz="2250" b="0">
                <a:solidFill>
                  <a:srgbClr val="173D32"/>
                </a:solidFill>
                <a:latin typeface="Arial"/>
                <a:ea typeface="Arial"/>
                <a:cs typeface="Arial"/>
              </a:rPr>
              <a:t>Ovos fora dos ninhos</a:t>
            </a:r>
          </a:p>
        </p:txBody>
      </p:sp>
      <p:sp>
        <p:nvSpPr>
          <p:cNvPr id="9" name="">
            <a:extLst xmlns:a="http://schemas.openxmlformats.org/drawingml/2006/main">
              <a:ext uri="{FF2B5EF4-FFF2-40B4-BE49-F238E27FC236}">
                <a16:creationId xmlns:a16="http://schemas.microsoft.com/office/drawing/2014/main" id="{A7FCF3B4-E708-4103-9FD9-7C5AD3DA1D8B}"/>
              </a:ext>
            </a:extLst>
          </p:cNvPr>
          <p:cNvSpPr>
            <a:spLocks xmlns:a="http://schemas.openxmlformats.org/drawingml/2006/main" noGrp="1"/>
          </p:cNvSpPr>
          <p:nvPr/>
        </p:nvSpPr>
        <p:spPr>
          <a:xfrm xmlns:a="http://schemas.openxmlformats.org/drawingml/2006/main">
            <a:off x="6505575" y="3409950"/>
            <a:ext cx="4953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3D32"/>
                </a:solidFill>
                <a:latin typeface="Arial"/>
                <a:ea typeface="Arial"/>
                <a:cs typeface="Arial"/>
              </a:defRPr>
            </a:pPr>
            <a:r>
              <a:rPr sz="2175" b="0">
                <a:solidFill>
                  <a:srgbClr val="173D32"/>
                </a:solidFill>
                <a:latin typeface="Arial"/>
                <a:ea typeface="Arial"/>
                <a:cs typeface="Arial"/>
              </a:rPr>
              <a:t>Detecção de ovos de cama para acompanhar a adaptação à postura.</a:t>
            </a:r>
          </a:p>
        </p:txBody>
      </p:sp>
      <p:sp>
        <p:nvSpPr>
          <p:cNvPr id="10" name="">
            <a:extLst xmlns:a="http://schemas.openxmlformats.org/drawingml/2006/main">
              <a:ext uri="{FF2B5EF4-FFF2-40B4-BE49-F238E27FC236}">
                <a16:creationId xmlns:a16="http://schemas.microsoft.com/office/drawing/2014/main" id="{BB72282D-9355-4403-B162-EBC3CA75126B}"/>
              </a:ext>
            </a:extLst>
          </p:cNvPr>
          <p:cNvSpPr>
            <a:spLocks xmlns:a="http://schemas.openxmlformats.org/drawingml/2006/main" noGrp="1"/>
          </p:cNvSpPr>
          <p:nvPr/>
        </p:nvSpPr>
        <p:spPr>
          <a:xfrm xmlns:a="http://schemas.openxmlformats.org/drawingml/2006/main">
            <a:off x="6505575" y="4686300"/>
            <a:ext cx="4953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4655B"/>
                </a:solidFill>
                <a:latin typeface="Arial"/>
                <a:ea typeface="Arial"/>
                <a:cs typeface="Arial"/>
              </a:defRPr>
            </a:pPr>
            <a:r>
              <a:rPr sz="1950" b="0">
                <a:solidFill>
                  <a:srgbClr val="54655B"/>
                </a:solidFill>
                <a:latin typeface="Arial"/>
                <a:ea typeface="Arial"/>
                <a:cs typeface="Arial"/>
              </a:rPr>
              <a:t>Comparação entre lotes, considerando o manejo e o aviário de postura.</a:t>
            </a:r>
          </a:p>
        </p:txBody>
      </p:sp>
      <p:sp>
        <p:nvSpPr>
          <p:cNvPr id="11" name="">
            <a:extLst xmlns:a="http://schemas.openxmlformats.org/drawingml/2006/main">
              <a:ext uri="{FF2B5EF4-FFF2-40B4-BE49-F238E27FC236}">
                <a16:creationId xmlns:a16="http://schemas.microsoft.com/office/drawing/2014/main" id="{5D7C0068-81D0-4EF1-8E8D-B25174A8C3DA}"/>
              </a:ext>
            </a:extLst>
          </p:cNvPr>
          <p:cNvSpPr>
            <a:spLocks xmlns:a="http://schemas.openxmlformats.org/drawingml/2006/main" noGrp="1"/>
          </p:cNvSpPr>
          <p:nvPr/>
        </p:nvSpPr>
        <p:spPr>
          <a:xfrm xmlns:a="http://schemas.openxmlformats.org/drawingml/2006/main">
            <a:off x="647700" y="6029325"/>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4655B"/>
                </a:solidFill>
                <a:latin typeface="Arial"/>
                <a:ea typeface="Arial"/>
                <a:cs typeface="Arial"/>
              </a:defRPr>
            </a:pPr>
            <a:r>
              <a:rPr sz="1725" b="0">
                <a:solidFill>
                  <a:srgbClr val="54655B"/>
                </a:solidFill>
                <a:latin typeface="Arial"/>
                <a:ea typeface="Arial"/>
                <a:cs typeface="Arial"/>
              </a:rPr>
              <a:t>Aplicações propostas para validação com dados da Raiar.</a:t>
            </a:r>
          </a:p>
        </p:txBody>
      </p:sp>
    </p:spTree>
    <p:extLst>
      <p:ext uri="{BB962C8B-B14F-4D97-AF65-F5344CB8AC3E}">
        <p14:creationId xmlns:p14="http://schemas.microsoft.com/office/powerpoint/2010/main" val="2109519418"/>
      </p:ext>
    </p:extLst>
  </p:cSld>
</p:sld>
</file>

<file path=ppt/slides/slide7.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A25D35E-96EE-43BC-AC99-CA6B4CBAA0D6}"/>
              </a:ext>
            </a:extLst>
          </p:cNvPr>
          <p:cNvSpPr>
            <a:spLocks xmlns:a="http://schemas.openxmlformats.org/drawingml/2006/main" noGrp="1"/>
          </p:cNvSpPr>
          <p:nvPr/>
        </p:nvSpPr>
        <p:spPr>
          <a:xfrm xmlns:a="http://schemas.openxmlformats.org/drawingml/2006/main">
            <a:off x="647700" y="514350"/>
            <a:ext cx="10763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0">
                <a:solidFill>
                  <a:srgbClr val="173D32"/>
                </a:solidFill>
                <a:latin typeface="Arial"/>
                <a:ea typeface="Arial"/>
                <a:cs typeface="Arial"/>
              </a:defRPr>
            </a:pPr>
            <a:r>
              <a:rPr sz="3450" b="0">
                <a:solidFill>
                  <a:srgbClr val="173D32"/>
                </a:solidFill>
                <a:latin typeface="Arial"/>
                <a:ea typeface="Arial"/>
                <a:cs typeface="Arial"/>
              </a:rPr>
              <a:t>Indicadores para um piloto</a:t>
            </a:r>
          </a:p>
        </p:txBody>
      </p:sp>
      <p:sp>
        <p:nvSpPr>
          <p:cNvPr id="2" name="">
            <a:extLst xmlns:a="http://schemas.openxmlformats.org/drawingml/2006/main">
              <a:ext uri="{FF2B5EF4-FFF2-40B4-BE49-F238E27FC236}">
                <a16:creationId xmlns:a16="http://schemas.microsoft.com/office/drawing/2014/main" id="{CFC6EE8A-E3E2-4F09-8230-D0721333772E}"/>
              </a:ext>
            </a:extLst>
          </p:cNvPr>
          <p:cNvSpPr>
            <a:spLocks xmlns:a="http://schemas.openxmlformats.org/drawingml/2006/main" noGrp="1"/>
          </p:cNvSpPr>
          <p:nvPr/>
        </p:nvSpPr>
        <p:spPr>
          <a:xfrm xmlns:a="http://schemas.openxmlformats.org/drawingml/2006/main">
            <a:off x="110490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4655B"/>
                </a:solidFill>
                <a:latin typeface="Arial"/>
                <a:ea typeface="Arial"/>
                <a:cs typeface="Arial"/>
              </a:defRPr>
            </a:pPr>
            <a:r>
              <a:rPr sz="1350" b="0">
                <a:solidFill>
                  <a:srgbClr val="54655B"/>
                </a:solidFill>
                <a:latin typeface="Arial"/>
                <a:ea typeface="Arial"/>
                <a:cs typeface="Arial"/>
              </a:rPr>
              <a:t>7</a:t>
            </a:r>
          </a:p>
        </p:txBody>
      </p:sp>
      <p:graphicFrame>
        <p:nvGraphicFramePr>
          <p:cNvPr id="7" name=""/>
          <p:cNvGraphicFramePr/>
          <p:nvPr/>
        </p:nvGraphicFramePr>
        <p:xfrm>
          <a:off xmlns:a="http://schemas.openxmlformats.org/drawingml/2006/main" x="647700" y="1809750"/>
          <a:ext xmlns:a="http://schemas.openxmlformats.org/drawingml/2006/main" cx="10896600" cy="3524250"/>
        </p:xfrm>
        <a:graphic xmlns:a="http://schemas.openxmlformats.org/drawingml/2006/main">
          <a:graphicData uri="http://schemas.openxmlformats.org/drawingml/2006/table">
            <a:tbl>
              <a:tblPr/>
              <a:tblGrid>
                <a:gridCol w="2762250"/>
                <a:gridCol w="8134350"/>
              </a:tblGrid>
              <a:tr h="628650">
                <a:tc>
                  <a:txBody>
                    <a:bodyPr/>
                    <a:lstStyle/>
                    <a:p>
                      <a:r>
                        <a:rPr sz="1950" b="0">
                          <a:solidFill>
                            <a:srgbClr val="FFFDF7"/>
                          </a:solidFill>
                          <a:latin typeface="Arial"/>
                          <a:ea typeface="Arial"/>
                          <a:cs typeface="Arial"/>
                        </a:rPr>
                        <a:t>Idade</a:t>
                      </a:r>
                    </a:p>
                  </a:txBody>
                  <a:tcPr marL="171450" marR="171450" marT="114300" marB="114300" anchor="ctr">
                    <a:solidFill>
                      <a:srgbClr val="173D32"/>
                    </a:solidFill>
                  </a:tcPr>
                </a:tc>
                <a:tc>
                  <a:txBody>
                    <a:bodyPr/>
                    <a:lstStyle/>
                    <a:p>
                      <a:r>
                        <a:rPr sz="1950" b="0">
                          <a:solidFill>
                            <a:srgbClr val="FFFDF7"/>
                          </a:solidFill>
                          <a:latin typeface="Arial"/>
                          <a:ea typeface="Arial"/>
                          <a:cs typeface="Arial"/>
                        </a:rPr>
                        <a:t>Observação proposta</a:t>
                      </a:r>
                    </a:p>
                  </a:txBody>
                  <a:tcPr marL="171450" marR="171450" marT="114300" marB="114300" anchor="ctr">
                    <a:solidFill>
                      <a:srgbClr val="173D32"/>
                    </a:solidFill>
                  </a:tcPr>
                </a:tc>
              </a:tr>
              <a:tr h="723900">
                <a:tc>
                  <a:txBody>
                    <a:bodyPr/>
                    <a:lstStyle/>
                    <a:p>
                      <a:r>
                        <a:rPr sz="1950" b="0">
                          <a:solidFill>
                            <a:srgbClr val="173D32"/>
                          </a:solidFill>
                          <a:latin typeface="Arial"/>
                          <a:ea typeface="Arial"/>
                          <a:cs typeface="Arial"/>
                        </a:rPr>
                        <a:t>Semanas 1 a 3</a:t>
                      </a:r>
                    </a:p>
                  </a:txBody>
                  <a:tcPr marL="171450" marR="171450" marT="114300" marB="114300" anchor="ctr">
                    <a:solidFill>
                      <a:srgbClr val="FFFDF7"/>
                    </a:solidFill>
                  </a:tcPr>
                </a:tc>
                <a:tc>
                  <a:txBody>
                    <a:bodyPr/>
                    <a:lstStyle/>
                    <a:p>
                      <a:r>
                        <a:rPr sz="1950" b="0">
                          <a:solidFill>
                            <a:srgbClr val="173D32"/>
                          </a:solidFill>
                          <a:latin typeface="Arial"/>
                          <a:ea typeface="Arial"/>
                          <a:cs typeface="Arial"/>
                        </a:rPr>
                        <a:t>Distribuição das aves e acesso à água e ao alimento.</a:t>
                      </a:r>
                    </a:p>
                  </a:txBody>
                  <a:tcPr marL="171450" marR="171450" marT="114300" marB="114300" anchor="ctr">
                    <a:solidFill>
                      <a:srgbClr val="FFFDF7"/>
                    </a:solidFill>
                  </a:tcPr>
                </a:tc>
              </a:tr>
              <a:tr h="723900">
                <a:tc>
                  <a:txBody>
                    <a:bodyPr/>
                    <a:lstStyle/>
                    <a:p>
                      <a:r>
                        <a:rPr sz="1950" b="0">
                          <a:solidFill>
                            <a:srgbClr val="173D32"/>
                          </a:solidFill>
                          <a:latin typeface="Arial"/>
                          <a:ea typeface="Arial"/>
                          <a:cs typeface="Arial"/>
                        </a:rPr>
                        <a:t>Semanas 4 a 6</a:t>
                      </a:r>
                    </a:p>
                  </a:txBody>
                  <a:tcPr marL="171450" marR="171450" marT="114300" marB="114300" anchor="ctr">
                    <a:solidFill>
                      <a:srgbClr val="F5F2E9"/>
                    </a:solidFill>
                  </a:tcPr>
                </a:tc>
                <a:tc>
                  <a:txBody>
                    <a:bodyPr/>
                    <a:lstStyle/>
                    <a:p>
                      <a:r>
                        <a:rPr sz="1950" b="0">
                          <a:solidFill>
                            <a:srgbClr val="173D32"/>
                          </a:solidFill>
                          <a:latin typeface="Arial"/>
                          <a:ea typeface="Arial"/>
                          <a:cs typeface="Arial"/>
                        </a:rPr>
                        <a:t>Uso de poleiros e transições entre níveis.</a:t>
                      </a:r>
                    </a:p>
                  </a:txBody>
                  <a:tcPr marL="171450" marR="171450" marT="114300" marB="114300" anchor="ctr">
                    <a:solidFill>
                      <a:srgbClr val="F5F2E9"/>
                    </a:solidFill>
                  </a:tcPr>
                </a:tc>
              </a:tr>
              <a:tr h="723900">
                <a:tc>
                  <a:txBody>
                    <a:bodyPr/>
                    <a:lstStyle/>
                    <a:p>
                      <a:r>
                        <a:rPr sz="1950" b="0">
                          <a:solidFill>
                            <a:srgbClr val="173D32"/>
                          </a:solidFill>
                          <a:latin typeface="Arial"/>
                          <a:ea typeface="Arial"/>
                          <a:cs typeface="Arial"/>
                        </a:rPr>
                        <a:t>Semanas 7 a 10</a:t>
                      </a:r>
                    </a:p>
                  </a:txBody>
                  <a:tcPr marL="171450" marR="171450" marT="114300" marB="114300" anchor="ctr">
                    <a:solidFill>
                      <a:srgbClr val="FFFDF7"/>
                    </a:solidFill>
                  </a:tcPr>
                </a:tc>
                <a:tc>
                  <a:txBody>
                    <a:bodyPr/>
                    <a:lstStyle/>
                    <a:p>
                      <a:r>
                        <a:rPr sz="1950" b="0">
                          <a:solidFill>
                            <a:srgbClr val="173D32"/>
                          </a:solidFill>
                          <a:latin typeface="Arial"/>
                          <a:ea typeface="Arial"/>
                          <a:cs typeface="Arial"/>
                        </a:rPr>
                        <a:t>Atividade por zona e concentração junto aos recursos.</a:t>
                      </a:r>
                    </a:p>
                  </a:txBody>
                  <a:tcPr marL="171450" marR="171450" marT="114300" marB="114300" anchor="ctr">
                    <a:solidFill>
                      <a:srgbClr val="FFFDF7"/>
                    </a:solidFill>
                  </a:tcPr>
                </a:tc>
              </a:tr>
              <a:tr h="723900">
                <a:tc>
                  <a:txBody>
                    <a:bodyPr/>
                    <a:lstStyle/>
                    <a:p>
                      <a:r>
                        <a:rPr sz="1950" b="0">
                          <a:solidFill>
                            <a:srgbClr val="173D32"/>
                          </a:solidFill>
                          <a:latin typeface="Arial"/>
                          <a:ea typeface="Arial"/>
                          <a:cs typeface="Arial"/>
                        </a:rPr>
                        <a:t>Semanas 11 a 15</a:t>
                      </a:r>
                    </a:p>
                  </a:txBody>
                  <a:tcPr marL="171450" marR="171450" marT="114300" marB="114300" anchor="ctr">
                    <a:solidFill>
                      <a:srgbClr val="F5F2E9"/>
                    </a:solidFill>
                  </a:tcPr>
                </a:tc>
                <a:tc>
                  <a:txBody>
                    <a:bodyPr/>
                    <a:lstStyle/>
                    <a:p>
                      <a:r>
                        <a:rPr sz="1950" b="0">
                          <a:solidFill>
                            <a:srgbClr val="173D32"/>
                          </a:solidFill>
                          <a:latin typeface="Arial"/>
                          <a:ea typeface="Arial"/>
                          <a:cs typeface="Arial"/>
                        </a:rPr>
                        <a:t>Uso consistente dos níveis e resposta a mudanças no manejo.</a:t>
                      </a:r>
                    </a:p>
                  </a:txBody>
                  <a:tcPr marL="171450" marR="171450" marT="114300" marB="114300" anchor="ctr">
                    <a:solidFill>
                      <a:srgbClr val="F5F2E9"/>
                    </a:solidFill>
                  </a:tcPr>
                </a:tc>
              </a:tr>
            </a:tbl>
          </a:graphicData>
        </a:graphic>
      </p:graphicFrame>
      <p:sp>
        <p:nvSpPr>
          <p:cNvPr id="4" name="">
            <a:extLst xmlns:a="http://schemas.openxmlformats.org/drawingml/2006/main">
              <a:ext uri="{FF2B5EF4-FFF2-40B4-BE49-F238E27FC236}">
                <a16:creationId xmlns:a16="http://schemas.microsoft.com/office/drawing/2014/main" id="{D1603382-9AD7-4272-AA92-6E0A0D278C59}"/>
              </a:ext>
            </a:extLst>
          </p:cNvPr>
          <p:cNvSpPr>
            <a:spLocks xmlns:a="http://schemas.openxmlformats.org/drawingml/2006/main" noGrp="1"/>
          </p:cNvSpPr>
          <p:nvPr/>
        </p:nvSpPr>
        <p:spPr>
          <a:xfrm xmlns:a="http://schemas.openxmlformats.org/drawingml/2006/main">
            <a:off x="647700" y="56197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4655B"/>
                </a:solidFill>
                <a:latin typeface="Arial"/>
                <a:ea typeface="Arial"/>
                <a:cs typeface="Arial"/>
              </a:defRPr>
            </a:pPr>
            <a:r>
              <a:rPr sz="1875" b="0">
                <a:solidFill>
                  <a:srgbClr val="54655B"/>
                </a:solidFill>
                <a:latin typeface="Arial"/>
                <a:ea typeface="Arial"/>
                <a:cs typeface="Arial"/>
              </a:rPr>
              <a:t>Os indicadores exigem verificação humana. Medir ocupação dos níveis requer análise adicional de imagens.</a:t>
            </a:r>
          </a:p>
        </p:txBody>
      </p:sp>
    </p:spTree>
    <p:extLst>
      <p:ext uri="{BB962C8B-B14F-4D97-AF65-F5344CB8AC3E}">
        <p14:creationId xmlns:p14="http://schemas.microsoft.com/office/powerpoint/2010/main" val="2119057076"/>
      </p:ext>
    </p:extLst>
  </p:cSld>
</p:sld>
</file>

<file path=ppt/slides/slide8.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25068E3-3A81-49E2-8B3B-0E4DCFE16D30}"/>
              </a:ext>
            </a:extLst>
          </p:cNvPr>
          <p:cNvSpPr>
            <a:spLocks xmlns:a="http://schemas.openxmlformats.org/drawingml/2006/main" noGrp="1"/>
          </p:cNvSpPr>
          <p:nvPr/>
        </p:nvSpPr>
        <p:spPr>
          <a:xfrm xmlns:a="http://schemas.openxmlformats.org/drawingml/2006/main">
            <a:off x="647700" y="514350"/>
            <a:ext cx="10763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0">
                <a:solidFill>
                  <a:srgbClr val="173D32"/>
                </a:solidFill>
                <a:latin typeface="Arial"/>
                <a:ea typeface="Arial"/>
                <a:cs typeface="Arial"/>
              </a:defRPr>
            </a:pPr>
            <a:r>
              <a:rPr sz="3450" b="0">
                <a:solidFill>
                  <a:srgbClr val="173D32"/>
                </a:solidFill>
                <a:latin typeface="Arial"/>
                <a:ea typeface="Arial"/>
                <a:cs typeface="Arial"/>
              </a:rPr>
              <a:t>Próximos passos com a Raiar</a:t>
            </a:r>
          </a:p>
        </p:txBody>
      </p:sp>
      <p:sp>
        <p:nvSpPr>
          <p:cNvPr id="2" name="">
            <a:extLst xmlns:a="http://schemas.openxmlformats.org/drawingml/2006/main">
              <a:ext uri="{FF2B5EF4-FFF2-40B4-BE49-F238E27FC236}">
                <a16:creationId xmlns:a16="http://schemas.microsoft.com/office/drawing/2014/main" id="{357136E2-80A2-4FD9-BFA6-3F1A7F90C060}"/>
              </a:ext>
            </a:extLst>
          </p:cNvPr>
          <p:cNvSpPr>
            <a:spLocks xmlns:a="http://schemas.openxmlformats.org/drawingml/2006/main" noGrp="1"/>
          </p:cNvSpPr>
          <p:nvPr/>
        </p:nvSpPr>
        <p:spPr>
          <a:xfrm xmlns:a="http://schemas.openxmlformats.org/drawingml/2006/main">
            <a:off x="110490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4655B"/>
                </a:solidFill>
                <a:latin typeface="Arial"/>
                <a:ea typeface="Arial"/>
                <a:cs typeface="Arial"/>
              </a:defRPr>
            </a:pPr>
            <a:r>
              <a:rPr sz="1350" b="0">
                <a:solidFill>
                  <a:srgbClr val="54655B"/>
                </a:solidFill>
                <a:latin typeface="Arial"/>
                <a:ea typeface="Arial"/>
                <a:cs typeface="Arial"/>
              </a:rPr>
              <a:t>8</a:t>
            </a:r>
          </a:p>
        </p:txBody>
      </p:sp>
      <p:sp>
        <p:nvSpPr>
          <p:cNvPr id="3" name="">
            <a:extLst xmlns:a="http://schemas.openxmlformats.org/drawingml/2006/main">
              <a:ext uri="{FF2B5EF4-FFF2-40B4-BE49-F238E27FC236}">
                <a16:creationId xmlns:a16="http://schemas.microsoft.com/office/drawing/2014/main" id="{FD5091DE-906F-4A5F-938E-F35D00A7B4F9}"/>
              </a:ext>
            </a:extLst>
          </p:cNvPr>
          <p:cNvSpPr>
            <a:spLocks xmlns:a="http://schemas.openxmlformats.org/drawingml/2006/main" noGrp="1"/>
          </p:cNvSpPr>
          <p:nvPr/>
        </p:nvSpPr>
        <p:spPr>
          <a:xfrm xmlns:a="http://schemas.openxmlformats.org/drawingml/2006/main">
            <a:off x="647700" y="1743075"/>
            <a:ext cx="609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B25935"/>
                </a:solidFill>
                <a:latin typeface="Arial"/>
                <a:ea typeface="Arial"/>
                <a:cs typeface="Arial"/>
              </a:defRPr>
            </a:pPr>
            <a:r>
              <a:rPr sz="3300" b="0">
                <a:solidFill>
                  <a:srgbClr val="B25935"/>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4F8658AB-34BC-4F27-B667-3E69740F522E}"/>
              </a:ext>
            </a:extLst>
          </p:cNvPr>
          <p:cNvSpPr>
            <a:spLocks xmlns:a="http://schemas.openxmlformats.org/drawingml/2006/main" noGrp="1"/>
          </p:cNvSpPr>
          <p:nvPr/>
        </p:nvSpPr>
        <p:spPr>
          <a:xfrm xmlns:a="http://schemas.openxmlformats.org/drawingml/2006/main">
            <a:off x="1514475" y="1752600"/>
            <a:ext cx="952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3D32"/>
                </a:solidFill>
                <a:latin typeface="Arial"/>
                <a:ea typeface="Arial"/>
                <a:cs typeface="Arial"/>
              </a:defRPr>
            </a:pPr>
            <a:r>
              <a:rPr sz="2250" b="0">
                <a:solidFill>
                  <a:srgbClr val="173D32"/>
                </a:solidFill>
                <a:latin typeface="Arial"/>
                <a:ea typeface="Arial"/>
                <a:cs typeface="Arial"/>
              </a:rPr>
              <a:t>Escolha dos comportamentos</a:t>
            </a:r>
          </a:p>
        </p:txBody>
      </p:sp>
      <p:sp>
        <p:nvSpPr>
          <p:cNvPr id="5" name="">
            <a:extLst xmlns:a="http://schemas.openxmlformats.org/drawingml/2006/main">
              <a:ext uri="{FF2B5EF4-FFF2-40B4-BE49-F238E27FC236}">
                <a16:creationId xmlns:a16="http://schemas.microsoft.com/office/drawing/2014/main" id="{6B8A6DDF-2CA8-4DD7-8D7B-4DD406421D2C}"/>
              </a:ext>
            </a:extLst>
          </p:cNvPr>
          <p:cNvSpPr>
            <a:spLocks xmlns:a="http://schemas.openxmlformats.org/drawingml/2006/main" noGrp="1"/>
          </p:cNvSpPr>
          <p:nvPr/>
        </p:nvSpPr>
        <p:spPr>
          <a:xfrm xmlns:a="http://schemas.openxmlformats.org/drawingml/2006/main">
            <a:off x="1514475" y="2190750"/>
            <a:ext cx="962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4655B"/>
                </a:solidFill>
                <a:latin typeface="Arial"/>
                <a:ea typeface="Arial"/>
                <a:cs typeface="Arial"/>
              </a:defRPr>
            </a:pPr>
            <a:r>
              <a:rPr sz="1950" b="0">
                <a:solidFill>
                  <a:srgbClr val="54655B"/>
                </a:solidFill>
                <a:latin typeface="Arial"/>
                <a:ea typeface="Arial"/>
                <a:cs typeface="Arial"/>
              </a:rPr>
              <a:t>Definir com a equipe quais usos do Jump Start observar.</a:t>
            </a:r>
          </a:p>
        </p:txBody>
      </p:sp>
      <p:sp>
        <p:nvSpPr>
          <p:cNvPr id="6" name="">
            <a:extLst xmlns:a="http://schemas.openxmlformats.org/drawingml/2006/main">
              <a:ext uri="{FF2B5EF4-FFF2-40B4-BE49-F238E27FC236}">
                <a16:creationId xmlns:a16="http://schemas.microsoft.com/office/drawing/2014/main" id="{0FCC16EC-A706-41D5-A64C-FB830A831595}"/>
              </a:ext>
            </a:extLst>
          </p:cNvPr>
          <p:cNvSpPr>
            <a:spLocks xmlns:a="http://schemas.openxmlformats.org/drawingml/2006/main" noGrp="1"/>
          </p:cNvSpPr>
          <p:nvPr/>
        </p:nvSpPr>
        <p:spPr>
          <a:xfrm xmlns:a="http://schemas.openxmlformats.org/drawingml/2006/main">
            <a:off x="647700" y="2743200"/>
            <a:ext cx="609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B25935"/>
                </a:solidFill>
                <a:latin typeface="Arial"/>
                <a:ea typeface="Arial"/>
                <a:cs typeface="Arial"/>
              </a:defRPr>
            </a:pPr>
            <a:r>
              <a:rPr sz="3300" b="0">
                <a:solidFill>
                  <a:srgbClr val="B25935"/>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8D3644BE-9DBA-4EE0-954A-CC7E09A8FA77}"/>
              </a:ext>
            </a:extLst>
          </p:cNvPr>
          <p:cNvSpPr>
            <a:spLocks xmlns:a="http://schemas.openxmlformats.org/drawingml/2006/main" noGrp="1"/>
          </p:cNvSpPr>
          <p:nvPr/>
        </p:nvSpPr>
        <p:spPr>
          <a:xfrm xmlns:a="http://schemas.openxmlformats.org/drawingml/2006/main">
            <a:off x="1514475" y="2752725"/>
            <a:ext cx="952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3D32"/>
                </a:solidFill>
                <a:latin typeface="Arial"/>
                <a:ea typeface="Arial"/>
                <a:cs typeface="Arial"/>
              </a:defRPr>
            </a:pPr>
            <a:r>
              <a:rPr sz="2250" b="0">
                <a:solidFill>
                  <a:srgbClr val="173D32"/>
                </a:solidFill>
                <a:latin typeface="Arial"/>
                <a:ea typeface="Arial"/>
                <a:cs typeface="Arial"/>
              </a:rPr>
              <a:t>Dados da recria</a:t>
            </a:r>
          </a:p>
        </p:txBody>
      </p:sp>
      <p:sp>
        <p:nvSpPr>
          <p:cNvPr id="8" name="">
            <a:extLst xmlns:a="http://schemas.openxmlformats.org/drawingml/2006/main">
              <a:ext uri="{FF2B5EF4-FFF2-40B4-BE49-F238E27FC236}">
                <a16:creationId xmlns:a16="http://schemas.microsoft.com/office/drawing/2014/main" id="{7A17A51F-15F1-4532-BA38-F1D308BA3AF7}"/>
              </a:ext>
            </a:extLst>
          </p:cNvPr>
          <p:cNvSpPr>
            <a:spLocks xmlns:a="http://schemas.openxmlformats.org/drawingml/2006/main" noGrp="1"/>
          </p:cNvSpPr>
          <p:nvPr/>
        </p:nvSpPr>
        <p:spPr>
          <a:xfrm xmlns:a="http://schemas.openxmlformats.org/drawingml/2006/main">
            <a:off x="1514475" y="3190875"/>
            <a:ext cx="962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4655B"/>
                </a:solidFill>
                <a:latin typeface="Arial"/>
                <a:ea typeface="Arial"/>
                <a:cs typeface="Arial"/>
              </a:defRPr>
            </a:pPr>
            <a:r>
              <a:rPr sz="1950" b="0">
                <a:solidFill>
                  <a:srgbClr val="54655B"/>
                </a:solidFill>
                <a:latin typeface="Arial"/>
                <a:ea typeface="Arial"/>
                <a:cs typeface="Arial"/>
              </a:rPr>
              <a:t>Reunir vídeos por idade e registros de manejo de cada lote.</a:t>
            </a:r>
          </a:p>
        </p:txBody>
      </p:sp>
      <p:sp>
        <p:nvSpPr>
          <p:cNvPr id="9" name="">
            <a:extLst xmlns:a="http://schemas.openxmlformats.org/drawingml/2006/main">
              <a:ext uri="{FF2B5EF4-FFF2-40B4-BE49-F238E27FC236}">
                <a16:creationId xmlns:a16="http://schemas.microsoft.com/office/drawing/2014/main" id="{7AD37673-DE6C-4B7F-81BD-F8C4C22DE36D}"/>
              </a:ext>
            </a:extLst>
          </p:cNvPr>
          <p:cNvSpPr>
            <a:spLocks xmlns:a="http://schemas.openxmlformats.org/drawingml/2006/main" noGrp="1"/>
          </p:cNvSpPr>
          <p:nvPr/>
        </p:nvSpPr>
        <p:spPr>
          <a:xfrm xmlns:a="http://schemas.openxmlformats.org/drawingml/2006/main">
            <a:off x="647700" y="3743325"/>
            <a:ext cx="609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B25935"/>
                </a:solidFill>
                <a:latin typeface="Arial"/>
                <a:ea typeface="Arial"/>
                <a:cs typeface="Arial"/>
              </a:defRPr>
            </a:pPr>
            <a:r>
              <a:rPr sz="3300" b="0">
                <a:solidFill>
                  <a:srgbClr val="B25935"/>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D06E0145-85B4-4DEE-8CF2-34D55967FB0A}"/>
              </a:ext>
            </a:extLst>
          </p:cNvPr>
          <p:cNvSpPr>
            <a:spLocks xmlns:a="http://schemas.openxmlformats.org/drawingml/2006/main" noGrp="1"/>
          </p:cNvSpPr>
          <p:nvPr/>
        </p:nvSpPr>
        <p:spPr>
          <a:xfrm xmlns:a="http://schemas.openxmlformats.org/drawingml/2006/main">
            <a:off x="1514475" y="3752850"/>
            <a:ext cx="952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3D32"/>
                </a:solidFill>
                <a:latin typeface="Arial"/>
                <a:ea typeface="Arial"/>
                <a:cs typeface="Arial"/>
              </a:defRPr>
            </a:pPr>
            <a:r>
              <a:rPr sz="2250" b="0">
                <a:solidFill>
                  <a:srgbClr val="173D32"/>
                </a:solidFill>
                <a:latin typeface="Arial"/>
                <a:ea typeface="Arial"/>
                <a:cs typeface="Arial"/>
              </a:rPr>
              <a:t>Validação das medições</a:t>
            </a:r>
          </a:p>
        </p:txBody>
      </p:sp>
      <p:sp>
        <p:nvSpPr>
          <p:cNvPr id="11" name="">
            <a:extLst xmlns:a="http://schemas.openxmlformats.org/drawingml/2006/main">
              <a:ext uri="{FF2B5EF4-FFF2-40B4-BE49-F238E27FC236}">
                <a16:creationId xmlns:a16="http://schemas.microsoft.com/office/drawing/2014/main" id="{8C7937F3-0DAF-4F40-9974-3B8F75D4269A}"/>
              </a:ext>
            </a:extLst>
          </p:cNvPr>
          <p:cNvSpPr>
            <a:spLocks xmlns:a="http://schemas.openxmlformats.org/drawingml/2006/main" noGrp="1"/>
          </p:cNvSpPr>
          <p:nvPr/>
        </p:nvSpPr>
        <p:spPr>
          <a:xfrm xmlns:a="http://schemas.openxmlformats.org/drawingml/2006/main">
            <a:off x="1514475" y="4191000"/>
            <a:ext cx="962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4655B"/>
                </a:solidFill>
                <a:latin typeface="Arial"/>
                <a:ea typeface="Arial"/>
                <a:cs typeface="Arial"/>
              </a:defRPr>
            </a:pPr>
            <a:r>
              <a:rPr sz="1950" b="0">
                <a:solidFill>
                  <a:srgbClr val="54655B"/>
                </a:solidFill>
                <a:latin typeface="Arial"/>
                <a:ea typeface="Arial"/>
                <a:cs typeface="Arial"/>
              </a:rPr>
              <a:t>Comparar o sistema com anotações e rondas dos técnicos.</a:t>
            </a:r>
          </a:p>
        </p:txBody>
      </p:sp>
      <p:sp>
        <p:nvSpPr>
          <p:cNvPr id="12" name="">
            <a:extLst xmlns:a="http://schemas.openxmlformats.org/drawingml/2006/main">
              <a:ext uri="{FF2B5EF4-FFF2-40B4-BE49-F238E27FC236}">
                <a16:creationId xmlns:a16="http://schemas.microsoft.com/office/drawing/2014/main" id="{5732EC14-A5EB-4058-9087-E695C26629F1}"/>
              </a:ext>
            </a:extLst>
          </p:cNvPr>
          <p:cNvSpPr>
            <a:spLocks xmlns:a="http://schemas.openxmlformats.org/drawingml/2006/main" noGrp="1"/>
          </p:cNvSpPr>
          <p:nvPr/>
        </p:nvSpPr>
        <p:spPr>
          <a:xfrm xmlns:a="http://schemas.openxmlformats.org/drawingml/2006/main">
            <a:off x="647700" y="4743450"/>
            <a:ext cx="609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B25935"/>
                </a:solidFill>
                <a:latin typeface="Arial"/>
                <a:ea typeface="Arial"/>
                <a:cs typeface="Arial"/>
              </a:defRPr>
            </a:pPr>
            <a:r>
              <a:rPr sz="3300" b="0">
                <a:solidFill>
                  <a:srgbClr val="B25935"/>
                </a:solidFill>
                <a:latin typeface="Arial"/>
                <a:ea typeface="Arial"/>
                <a:cs typeface="Arial"/>
              </a:rPr>
              <a:t>4</a:t>
            </a:r>
          </a:p>
        </p:txBody>
      </p:sp>
      <p:sp>
        <p:nvSpPr>
          <p:cNvPr id="13" name="">
            <a:extLst xmlns:a="http://schemas.openxmlformats.org/drawingml/2006/main">
              <a:ext uri="{FF2B5EF4-FFF2-40B4-BE49-F238E27FC236}">
                <a16:creationId xmlns:a16="http://schemas.microsoft.com/office/drawing/2014/main" id="{9768B4E9-23F6-4EB4-BB22-CA37445EE75E}"/>
              </a:ext>
            </a:extLst>
          </p:cNvPr>
          <p:cNvSpPr>
            <a:spLocks xmlns:a="http://schemas.openxmlformats.org/drawingml/2006/main" noGrp="1"/>
          </p:cNvSpPr>
          <p:nvPr/>
        </p:nvSpPr>
        <p:spPr>
          <a:xfrm xmlns:a="http://schemas.openxmlformats.org/drawingml/2006/main">
            <a:off x="1514475" y="4752975"/>
            <a:ext cx="952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3D32"/>
                </a:solidFill>
                <a:latin typeface="Arial"/>
                <a:ea typeface="Arial"/>
                <a:cs typeface="Arial"/>
              </a:defRPr>
            </a:pPr>
            <a:r>
              <a:rPr sz="2250" b="0">
                <a:solidFill>
                  <a:srgbClr val="173D32"/>
                </a:solidFill>
                <a:latin typeface="Arial"/>
                <a:ea typeface="Arial"/>
                <a:cs typeface="Arial"/>
              </a:rPr>
              <a:t>Acompanhamento na postura</a:t>
            </a:r>
          </a:p>
        </p:txBody>
      </p:sp>
      <p:sp>
        <p:nvSpPr>
          <p:cNvPr id="14" name="">
            <a:extLst xmlns:a="http://schemas.openxmlformats.org/drawingml/2006/main">
              <a:ext uri="{FF2B5EF4-FFF2-40B4-BE49-F238E27FC236}">
                <a16:creationId xmlns:a16="http://schemas.microsoft.com/office/drawing/2014/main" id="{0FE477CC-C416-4A2C-9302-E4E526BC0E1A}"/>
              </a:ext>
            </a:extLst>
          </p:cNvPr>
          <p:cNvSpPr>
            <a:spLocks xmlns:a="http://schemas.openxmlformats.org/drawingml/2006/main" noGrp="1"/>
          </p:cNvSpPr>
          <p:nvPr/>
        </p:nvSpPr>
        <p:spPr>
          <a:xfrm xmlns:a="http://schemas.openxmlformats.org/drawingml/2006/main">
            <a:off x="1514475" y="5191125"/>
            <a:ext cx="962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4655B"/>
                </a:solidFill>
                <a:latin typeface="Arial"/>
                <a:ea typeface="Arial"/>
                <a:cs typeface="Arial"/>
              </a:defRPr>
            </a:pPr>
            <a:r>
              <a:rPr sz="1950" b="0">
                <a:solidFill>
                  <a:srgbClr val="54655B"/>
                </a:solidFill>
                <a:latin typeface="Arial"/>
                <a:ea typeface="Arial"/>
                <a:cs typeface="Arial"/>
              </a:rPr>
              <a:t>Relacionar os indicadores à adaptação e aos ovos no piso.</a:t>
            </a:r>
          </a:p>
        </p:txBody>
      </p:sp>
      <p:sp>
        <p:nvSpPr>
          <p:cNvPr id="15" name="">
            <a:extLst xmlns:a="http://schemas.openxmlformats.org/drawingml/2006/main">
              <a:ext uri="{FF2B5EF4-FFF2-40B4-BE49-F238E27FC236}">
                <a16:creationId xmlns:a16="http://schemas.microsoft.com/office/drawing/2014/main" id="{57659564-64EE-4DE6-9490-D280C9878FC0}"/>
              </a:ext>
            </a:extLst>
          </p:cNvPr>
          <p:cNvSpPr>
            <a:spLocks xmlns:a="http://schemas.openxmlformats.org/drawingml/2006/main" noGrp="1"/>
          </p:cNvSpPr>
          <p:nvPr/>
        </p:nvSpPr>
        <p:spPr>
          <a:xfrm xmlns:a="http://schemas.openxmlformats.org/drawingml/2006/main">
            <a:off x="647700" y="609600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B25935"/>
                </a:solidFill>
                <a:latin typeface="Arial"/>
                <a:ea typeface="Arial"/>
                <a:cs typeface="Arial"/>
              </a:defRPr>
            </a:pPr>
            <a:r>
              <a:rPr sz="1725" b="0">
                <a:solidFill>
                  <a:srgbClr val="B25935"/>
                </a:solidFill>
                <a:latin typeface="Arial"/>
                <a:ea typeface="Arial"/>
                <a:cs typeface="Arial"/>
              </a:rPr>
              <a:t>O piloto em granja exige ampliação do escopo do MVP, inicialmente simulado.</a:t>
            </a:r>
          </a:p>
        </p:txBody>
      </p:sp>
    </p:spTree>
    <p:extLst>
      <p:ext uri="{BB962C8B-B14F-4D97-AF65-F5344CB8AC3E}">
        <p14:creationId xmlns:p14="http://schemas.microsoft.com/office/powerpoint/2010/main" val="21451663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2026-09-25T14:00:38.2340000Z</dcterms:created>
  <dcterms:modified xsi:type="dcterms:W3CDTF">2026-09-25T14:00:38.2340000Z</dcterms:modified>
</coreProperties>
</file>